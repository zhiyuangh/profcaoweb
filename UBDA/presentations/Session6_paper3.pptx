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21"/>
  </p:notesMasterIdLst>
  <p:handoutMasterIdLst>
    <p:handoutMasterId r:id="rId22"/>
  </p:handoutMasterIdLst>
  <p:sldIdLst>
    <p:sldId id="261" r:id="rId2"/>
    <p:sldId id="333" r:id="rId3"/>
    <p:sldId id="296" r:id="rId4"/>
    <p:sldId id="306" r:id="rId5"/>
    <p:sldId id="287" r:id="rId6"/>
    <p:sldId id="317" r:id="rId7"/>
    <p:sldId id="339" r:id="rId8"/>
    <p:sldId id="321" r:id="rId9"/>
    <p:sldId id="294" r:id="rId10"/>
    <p:sldId id="302" r:id="rId11"/>
    <p:sldId id="313" r:id="rId12"/>
    <p:sldId id="314" r:id="rId13"/>
    <p:sldId id="330" r:id="rId14"/>
    <p:sldId id="331" r:id="rId15"/>
    <p:sldId id="332" r:id="rId16"/>
    <p:sldId id="337" r:id="rId17"/>
    <p:sldId id="340" r:id="rId18"/>
    <p:sldId id="336" r:id="rId19"/>
    <p:sldId id="338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pos="2880">
          <p15:clr>
            <a:srgbClr val="A4A3A4"/>
          </p15:clr>
        </p15:guide>
        <p15:guide id="5" pos="288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D"/>
    <a:srgbClr val="00642B"/>
    <a:srgbClr val="55B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9631B5-78F2-41C9-869B-9F39066F8104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72" autoAdjust="0"/>
    <p:restoredTop sz="76583" autoAdjust="0"/>
  </p:normalViewPr>
  <p:slideViewPr>
    <p:cSldViewPr>
      <p:cViewPr varScale="1">
        <p:scale>
          <a:sx n="49" d="100"/>
          <a:sy n="49" d="100"/>
        </p:scale>
        <p:origin x="1479" y="33"/>
      </p:cViewPr>
      <p:guideLst>
        <p:guide orient="horz" pos="2160"/>
        <p:guide orient="horz" pos="864"/>
        <p:guide orient="horz" pos="3792"/>
        <p:guide pos="2880"/>
        <p:guide pos="288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94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/>
              <a:t>12/20/2017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6F0DB-E055-41D0-9102-627A646E4242}" type="datetimeFigureOut">
              <a:rPr lang="en-US" smtClean="0"/>
              <a:t>12/20/2017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7800" y="609600"/>
            <a:ext cx="3962400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FBC3A-A12C-40F9-BB8D-BC30C790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5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To talk about </a:t>
            </a:r>
            <a:r>
              <a:rPr lang="en-US" altLang="zh-CN" dirty="0" err="1" smtClean="0"/>
              <a:t>cryptocurreny</a:t>
            </a:r>
            <a:r>
              <a:rPr lang="en-US" altLang="zh-CN" dirty="0" smtClean="0"/>
              <a:t>, we</a:t>
            </a:r>
            <a:r>
              <a:rPr lang="en-US" altLang="zh-CN" baseline="0" dirty="0" smtClean="0"/>
              <a:t> have to start with Bitcoin</a:t>
            </a:r>
            <a:endParaRPr lang="en-US" altLang="zh-CN" dirty="0" smtClean="0"/>
          </a:p>
          <a:p>
            <a:pPr lvl="0"/>
            <a:endParaRPr lang="en-US" altLang="zh-CN" dirty="0" smtClean="0"/>
          </a:p>
          <a:p>
            <a:pPr lvl="0"/>
            <a:r>
              <a:rPr lang="en-US" altLang="zh-CN" dirty="0" smtClean="0"/>
              <a:t>O</a:t>
            </a:r>
            <a:r>
              <a:rPr lang="en-US" dirty="0" smtClean="0"/>
              <a:t>nly the payer can initiate a </a:t>
            </a:r>
            <a:r>
              <a:rPr lang="en-US" dirty="0" err="1" smtClean="0"/>
              <a:t>tx</a:t>
            </a:r>
            <a:endParaRPr lang="en-US" dirty="0" smtClean="0"/>
          </a:p>
          <a:p>
            <a:pPr lvl="0"/>
            <a:r>
              <a:rPr lang="en-US" dirty="0" smtClean="0"/>
              <a:t>Refer to a previous </a:t>
            </a:r>
            <a:r>
              <a:rPr lang="en-US" dirty="0" err="1" smtClean="0"/>
              <a:t>tx</a:t>
            </a:r>
            <a:r>
              <a:rPr lang="en-US" dirty="0" smtClean="0"/>
              <a:t> in</a:t>
            </a:r>
            <a:r>
              <a:rPr lang="en-US" baseline="0" dirty="0" smtClean="0"/>
              <a:t> which he was the payee</a:t>
            </a:r>
          </a:p>
          <a:p>
            <a:pPr lvl="0"/>
            <a:endParaRPr lang="en-US" baseline="0" dirty="0" smtClean="0"/>
          </a:p>
          <a:p>
            <a:pPr lvl="0"/>
            <a:r>
              <a:rPr lang="en-US" baseline="0" dirty="0" smtClean="0"/>
              <a:t>The number one challenge: double spending</a:t>
            </a:r>
            <a:endParaRPr lang="en-US" dirty="0" smtClean="0"/>
          </a:p>
          <a:p>
            <a:pPr lvl="1"/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4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By the time Carol finds this cheating block, the rest of the world has found more blocks on the main chain</a:t>
            </a:r>
          </a:p>
          <a:p>
            <a:endParaRPr lang="en-US" dirty="0" smtClean="0"/>
          </a:p>
          <a:p>
            <a:r>
              <a:rPr lang="en-US" dirty="0" smtClean="0"/>
              <a:t>Longest chain wins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35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smtClean="0"/>
              <a:t>Participants reach consensus on </a:t>
            </a:r>
            <a:r>
              <a:rPr lang="en-US" dirty="0" err="1" smtClean="0"/>
              <a:t>tx</a:t>
            </a:r>
            <a:r>
              <a:rPr lang="en-US" dirty="0" smtClean="0"/>
              <a:t> history</a:t>
            </a:r>
          </a:p>
          <a:p>
            <a:pPr lvl="0"/>
            <a:r>
              <a:rPr lang="en-US" dirty="0" smtClean="0"/>
              <a:t>Anyone can leave or join at any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47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7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40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They</a:t>
            </a:r>
            <a:r>
              <a:rPr lang="en-US" baseline="0" dirty="0" smtClean="0"/>
              <a:t> tried to make it </a:t>
            </a:r>
            <a:r>
              <a:rPr lang="en-US" baseline="0" dirty="0" err="1" smtClean="0"/>
              <a:t>permisssionless</a:t>
            </a:r>
            <a:r>
              <a:rPr lang="en-US" baseline="0" dirty="0" smtClean="0"/>
              <a:t>, but we will see later, they didn’t succeed.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Hardly justifiable. E.g., mine Bitcoin voluntarily, no need for reward</a:t>
            </a:r>
          </a:p>
          <a:p>
            <a:endParaRPr lang="en-US" baseline="0" dirty="0" smtClean="0"/>
          </a:p>
          <a:p>
            <a:r>
              <a:rPr lang="en-US" baseline="0" dirty="0" smtClean="0"/>
              <a:t>What is Solidus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85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Gill Sans" charset="0"/>
                <a:ea typeface="Gill Sans" charset="0"/>
                <a:cs typeface="Gill Sans" charset="0"/>
              </a:rPr>
              <a:t>An elect phase like </a:t>
            </a:r>
            <a:r>
              <a:rPr lang="en-US" sz="1200" dirty="0" err="1" smtClean="0">
                <a:latin typeface="Gill Sans" charset="0"/>
                <a:ea typeface="Gill Sans" charset="0"/>
                <a:cs typeface="Gill Sans" charset="0"/>
              </a:rPr>
              <a:t>Paxos</a:t>
            </a:r>
            <a:r>
              <a:rPr lang="en-US" sz="1200" dirty="0" smtClean="0">
                <a:latin typeface="Gill Sans" charset="0"/>
                <a:ea typeface="Gill Sans" charset="0"/>
                <a:cs typeface="Gill Sans" charset="0"/>
              </a:rPr>
              <a:t>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Gill Sans" charset="0"/>
                <a:ea typeface="Gill Sans" charset="0"/>
                <a:cs typeface="Gill Sans" charset="0"/>
              </a:rPr>
              <a:t>Leader</a:t>
            </a:r>
            <a:r>
              <a:rPr lang="en-US" sz="1200" baseline="0" dirty="0" smtClean="0">
                <a:latin typeface="Gill Sans" charset="0"/>
                <a:ea typeface="Gill Sans" charset="0"/>
                <a:cs typeface="Gill Sans" charset="0"/>
              </a:rPr>
              <a:t> is external. Use </a:t>
            </a:r>
            <a:r>
              <a:rPr lang="en-US" sz="1200" baseline="0" dirty="0" err="1" smtClean="0"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1200" baseline="0" dirty="0" smtClean="0">
                <a:latin typeface="Gill Sans" charset="0"/>
                <a:ea typeface="Gill Sans" charset="0"/>
                <a:cs typeface="Gill Sans" charset="0"/>
              </a:rPr>
              <a:t> as a ticket to get into the committee.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Gill Sans" charset="0"/>
                <a:ea typeface="Gill Sans" charset="0"/>
                <a:cs typeface="Gill Sans" charset="0"/>
              </a:rPr>
              <a:t>The</a:t>
            </a:r>
            <a:r>
              <a:rPr lang="en-US" sz="1200" baseline="0" dirty="0" smtClean="0">
                <a:latin typeface="Gill Sans" charset="0"/>
                <a:ea typeface="Gill Sans" charset="0"/>
                <a:cs typeface="Gill Sans" charset="0"/>
              </a:rPr>
              <a:t> 3 phases in the middle same as PBFT, but renamed.</a:t>
            </a:r>
            <a:endParaRPr lang="en-US" sz="1200" dirty="0" smtClean="0">
              <a:latin typeface="Gill Sans" charset="0"/>
              <a:ea typeface="Gill Sans" charset="0"/>
              <a:cs typeface="Gill Sans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Gill Sans" charset="0"/>
                <a:ea typeface="Gill Sans" charset="0"/>
                <a:cs typeface="Gill Sans" charset="0"/>
              </a:rPr>
              <a:t>A propagate phase for the world.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20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Leader -&gt;</a:t>
            </a:r>
            <a:r>
              <a:rPr lang="en-US" altLang="zh-CN" baseline="0" dirty="0" smtClean="0"/>
              <a:t> rank</a:t>
            </a:r>
          </a:p>
          <a:p>
            <a:r>
              <a:rPr lang="en-US" altLang="zh-CN" baseline="0" dirty="0" smtClean="0"/>
              <a:t>High ranked leader can interrupt low ranked ones.</a:t>
            </a:r>
          </a:p>
          <a:p>
            <a:r>
              <a:rPr lang="en-US" altLang="zh-CN" baseline="0" dirty="0" smtClean="0"/>
              <a:t>What to use as ranks?</a:t>
            </a:r>
          </a:p>
          <a:p>
            <a:endParaRPr lang="en-US" altLang="zh-CN" baseline="0" dirty="0" smtClean="0"/>
          </a:p>
          <a:p>
            <a:r>
              <a:rPr lang="en-US" altLang="zh-CN" baseline="0" dirty="0" err="1" smtClean="0"/>
              <a:t>Paxos</a:t>
            </a:r>
            <a:r>
              <a:rPr lang="en-US" altLang="zh-CN" baseline="0" dirty="0" smtClean="0"/>
              <a:t>, a leader picks its own rank.</a:t>
            </a:r>
          </a:p>
          <a:p>
            <a:r>
              <a:rPr lang="en-US" altLang="zh-CN" baseline="0" dirty="0" smtClean="0"/>
              <a:t>Here, A leader must not control its own rank.</a:t>
            </a:r>
            <a:endParaRPr lang="en-US" altLang="zh-CN" dirty="0" smtClean="0"/>
          </a:p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1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interrupts A.</a:t>
            </a:r>
          </a:p>
          <a:p>
            <a:r>
              <a:rPr lang="en-US" baseline="0" dirty="0" smtClean="0"/>
              <a:t>Case 1: A has not done much, B proposes his own proposal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23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interrupts A.</a:t>
            </a:r>
          </a:p>
          <a:p>
            <a:r>
              <a:rPr lang="en-US" baseline="0" dirty="0" smtClean="0"/>
              <a:t>Case 2: A has done a lot and cannot be reverted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09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interrupts A.</a:t>
            </a:r>
          </a:p>
          <a:p>
            <a:r>
              <a:rPr lang="en-US" baseline="0" dirty="0" smtClean="0"/>
              <a:t>Case 2: A has done a lot and cannot be reverted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0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interrupts A.</a:t>
            </a:r>
          </a:p>
          <a:p>
            <a:r>
              <a:rPr lang="en-US" baseline="0" dirty="0" smtClean="0"/>
              <a:t>Case 2: A has done a lot and cannot be reverted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57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PoW</a:t>
            </a:r>
            <a:r>
              <a:rPr lang="en-US" altLang="zh-CN" dirty="0" smtClean="0"/>
              <a:t> as rank.</a:t>
            </a:r>
          </a:p>
          <a:p>
            <a:r>
              <a:rPr lang="en-US" dirty="0" smtClean="0"/>
              <a:t>B</a:t>
            </a:r>
            <a:r>
              <a:rPr lang="en-US" baseline="0" dirty="0" smtClean="0"/>
              <a:t> interrupts A.</a:t>
            </a:r>
          </a:p>
          <a:p>
            <a:r>
              <a:rPr lang="en-US" baseline="0" dirty="0" smtClean="0"/>
              <a:t>Case 2: A has done a lot and cannot be reverted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42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23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98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200"/>
            <a:ext cx="8229600" cy="584200"/>
          </a:xfrm>
        </p:spPr>
        <p:txBody>
          <a:bodyPr/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accent6"/>
                </a:solidFill>
                <a:latin typeface="Gill Sans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071"/>
            <a:ext cx="8229600" cy="1487587"/>
          </a:xfrm>
        </p:spPr>
        <p:txBody>
          <a:bodyPr lIns="91440">
            <a:spAutoFit/>
          </a:bodyPr>
          <a:lstStyle>
            <a:lvl1pPr>
              <a:lnSpc>
                <a:spcPct val="150000"/>
              </a:lnSpc>
              <a:buClr>
                <a:schemeClr val="tx1"/>
              </a:buClr>
              <a:defRPr sz="3200" b="0">
                <a:latin typeface="Gill Sans" charset="0"/>
                <a:ea typeface="Gill Sans" charset="0"/>
                <a:cs typeface="Gill Sans" charset="0"/>
              </a:defRPr>
            </a:lvl1pPr>
            <a:lvl2pPr>
              <a:lnSpc>
                <a:spcPct val="150000"/>
              </a:lnSpc>
              <a:buClr>
                <a:srgbClr val="0070C0"/>
              </a:buClr>
              <a:buSzPct val="85000"/>
              <a:defRPr sz="280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>
              <a:lnSpc>
                <a:spcPct val="150000"/>
              </a:lnSpc>
              <a:defRPr sz="24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85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166" y="1676400"/>
            <a:ext cx="8149433" cy="1524000"/>
          </a:xfrm>
        </p:spPr>
        <p:txBody>
          <a:bodyPr anchor="b"/>
          <a:lstStyle>
            <a:lvl1pPr algn="ctr">
              <a:defRPr sz="4400" b="1" cap="none" baseline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7" y="3276600"/>
            <a:ext cx="8149433" cy="6096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1pPr>
            <a:lvl2pPr marL="0" indent="0">
              <a:buNone/>
              <a:defRPr sz="2000">
                <a:solidFill>
                  <a:schemeClr val="accent4"/>
                </a:solidFill>
              </a:defRPr>
            </a:lvl2pPr>
            <a:lvl3pPr marL="0" indent="0">
              <a:buNone/>
              <a:defRPr sz="2000">
                <a:solidFill>
                  <a:schemeClr val="accent4"/>
                </a:solidFill>
              </a:defRPr>
            </a:lvl3pPr>
            <a:lvl4pPr marL="0" indent="0">
              <a:buNone/>
              <a:defRPr sz="2000">
                <a:solidFill>
                  <a:schemeClr val="accent4"/>
                </a:solidFill>
              </a:defRPr>
            </a:lvl4pPr>
            <a:lvl5pPr marL="0" indent="0">
              <a:buNone/>
              <a:defRPr sz="2000">
                <a:solidFill>
                  <a:schemeClr val="accent4"/>
                </a:solidFill>
              </a:defRPr>
            </a:lvl5pPr>
            <a:lvl6pPr marL="0" indent="0">
              <a:buNone/>
              <a:defRPr sz="2000">
                <a:solidFill>
                  <a:schemeClr val="accent4"/>
                </a:solidFill>
              </a:defRPr>
            </a:lvl6pPr>
            <a:lvl7pPr marL="0" indent="0">
              <a:buNone/>
              <a:defRPr sz="2000">
                <a:solidFill>
                  <a:schemeClr val="accent4"/>
                </a:solidFill>
              </a:defRPr>
            </a:lvl7pPr>
            <a:lvl8pPr marL="0" indent="0">
              <a:buNone/>
              <a:defRPr sz="2000">
                <a:solidFill>
                  <a:schemeClr val="accent4"/>
                </a:solidFill>
              </a:defRPr>
            </a:lvl8pPr>
            <a:lvl9pPr marL="0" indent="0">
              <a:buNone/>
              <a:defRPr sz="20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9196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3931920" cy="4648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1371600"/>
            <a:ext cx="3931920" cy="4648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8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0200"/>
            <a:ext cx="8229600" cy="8128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05800" y="6883401"/>
            <a:ext cx="838200" cy="1333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0260" y="6464301"/>
            <a:ext cx="338138" cy="1492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00">
                <a:solidFill>
                  <a:schemeClr val="tx1"/>
                </a:solidFill>
                <a:latin typeface="Gill Sans"/>
              </a:defRPr>
            </a:lvl1pPr>
          </a:lstStyle>
          <a:p>
            <a:fld id="{6EA6D8CF-3CDE-4807-BCD2-C9F2B831AA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78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Calibri" panose="020F050202020403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Calibri" panose="020F050202020403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685800"/>
            <a:ext cx="9144000" cy="2971800"/>
          </a:xfrm>
        </p:spPr>
        <p:txBody>
          <a:bodyPr lIns="91440" rIns="91440" anchor="ctr"/>
          <a:lstStyle/>
          <a:p>
            <a:pPr algn="ctr">
              <a:lnSpc>
                <a:spcPct val="120000"/>
              </a:lnSpc>
            </a:pPr>
            <a:r>
              <a:rPr lang="en-US" sz="4800" b="0" dirty="0" err="1" smtClean="0">
                <a:latin typeface="Gill Sans"/>
                <a:ea typeface="+mj-ea"/>
                <a:cs typeface="+mj-cs"/>
              </a:rPr>
              <a:t>Solida</a:t>
            </a:r>
            <a:r>
              <a:rPr lang="en-US" sz="4000" b="0" dirty="0" smtClean="0">
                <a:latin typeface="Gill Sans"/>
                <a:ea typeface="+mj-ea"/>
                <a:cs typeface="+mj-cs"/>
              </a:rPr>
              <a:t>: </a:t>
            </a:r>
            <a:br>
              <a:rPr lang="en-US" sz="4000" b="0" dirty="0" smtClean="0">
                <a:latin typeface="Gill Sans"/>
                <a:ea typeface="+mj-ea"/>
                <a:cs typeface="+mj-cs"/>
              </a:rPr>
            </a:br>
            <a:r>
              <a:rPr lang="en-US" sz="4000" b="0" dirty="0" smtClean="0">
                <a:latin typeface="Gill Sans"/>
                <a:ea typeface="+mj-ea"/>
                <a:cs typeface="+mj-cs"/>
              </a:rPr>
              <a:t>A </a:t>
            </a:r>
            <a:r>
              <a:rPr lang="en-US" sz="4000" b="0" dirty="0" err="1" smtClean="0">
                <a:latin typeface="Gill Sans"/>
                <a:ea typeface="+mj-ea"/>
                <a:cs typeface="+mj-cs"/>
              </a:rPr>
              <a:t>Blockchain</a:t>
            </a:r>
            <a:r>
              <a:rPr lang="en-US" sz="4000" b="0" dirty="0" smtClean="0">
                <a:latin typeface="Gill Sans"/>
                <a:ea typeface="+mj-ea"/>
                <a:cs typeface="+mj-cs"/>
              </a:rPr>
              <a:t> Protocol </a:t>
            </a:r>
            <a:r>
              <a:rPr lang="en-US" sz="4000" b="0" dirty="0">
                <a:latin typeface="Gill Sans"/>
                <a:ea typeface="+mj-ea"/>
                <a:cs typeface="+mj-cs"/>
              </a:rPr>
              <a:t>Based on </a:t>
            </a:r>
            <a:r>
              <a:rPr lang="en-US" sz="4000" b="0" dirty="0" smtClean="0">
                <a:latin typeface="Gill Sans"/>
                <a:ea typeface="+mj-ea"/>
                <a:cs typeface="+mj-cs"/>
              </a:rPr>
              <a:t>Reconfigurable </a:t>
            </a:r>
            <a:r>
              <a:rPr lang="en-US" sz="4000" b="0" dirty="0">
                <a:latin typeface="Gill Sans"/>
                <a:ea typeface="+mj-ea"/>
                <a:cs typeface="+mj-cs"/>
              </a:rPr>
              <a:t>Byzantine </a:t>
            </a:r>
            <a:r>
              <a:rPr lang="en-US" sz="4000" b="0" dirty="0" smtClean="0">
                <a:latin typeface="Gill Sans"/>
                <a:ea typeface="+mj-ea"/>
                <a:cs typeface="+mj-cs"/>
              </a:rPr>
              <a:t>Consensus</a:t>
            </a:r>
            <a:endParaRPr lang="en-US" sz="4000" b="0" dirty="0">
              <a:latin typeface="Gill Sans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0" y="3962400"/>
            <a:ext cx="9144000" cy="2286000"/>
          </a:xfrm>
        </p:spPr>
        <p:txBody>
          <a:bodyPr lIns="91440" rIns="91440" anchor="ctr"/>
          <a:lstStyle/>
          <a:p>
            <a:pPr algn="ctr">
              <a:lnSpc>
                <a:spcPct val="120000"/>
              </a:lnSpc>
              <a:spcAft>
                <a:spcPts val="2400"/>
              </a:spcAft>
            </a:pPr>
            <a:r>
              <a:rPr lang="en-US" sz="3200" dirty="0" smtClean="0">
                <a:latin typeface="Gill Sans" charset="0"/>
                <a:ea typeface="Gill Sans" charset="0"/>
                <a:cs typeface="Gill Sans" charset="0"/>
              </a:rPr>
              <a:t>Ling Ren</a:t>
            </a:r>
          </a:p>
          <a:p>
            <a:pPr algn="ctr">
              <a:lnSpc>
                <a:spcPct val="120000"/>
              </a:lnSpc>
            </a:pPr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Joint work with </a:t>
            </a:r>
            <a:r>
              <a:rPr lang="en-US" sz="2400" dirty="0" err="1" smtClean="0"/>
              <a:t>Ittai</a:t>
            </a:r>
            <a:r>
              <a:rPr lang="en-US" sz="2400" dirty="0" smtClean="0"/>
              <a:t> Abraham, Dahlia </a:t>
            </a:r>
            <a:r>
              <a:rPr lang="en-US" sz="2400" dirty="0" err="1" smtClean="0"/>
              <a:t>Malkhi</a:t>
            </a:r>
            <a:r>
              <a:rPr lang="en-US" sz="2400" dirty="0" smtClean="0"/>
              <a:t>,</a:t>
            </a:r>
          </a:p>
          <a:p>
            <a:pPr algn="ctr">
              <a:lnSpc>
                <a:spcPct val="120000"/>
              </a:lnSpc>
            </a:pPr>
            <a:r>
              <a:rPr lang="en-US" sz="2400" dirty="0" err="1" smtClean="0">
                <a:latin typeface="Gill Sans" charset="0"/>
                <a:ea typeface="Gill Sans" charset="0"/>
                <a:cs typeface="Gill Sans" charset="0"/>
              </a:rPr>
              <a:t>Kartik</a:t>
            </a:r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2400" dirty="0" err="1" smtClean="0">
                <a:latin typeface="Gill Sans" charset="0"/>
                <a:ea typeface="Gill Sans" charset="0"/>
                <a:cs typeface="Gill Sans" charset="0"/>
              </a:rPr>
              <a:t>Nayak</a:t>
            </a:r>
            <a:r>
              <a:rPr lang="en-US" sz="2400" dirty="0" smtClean="0"/>
              <a:t> and</a:t>
            </a:r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 Alexander Spiegelman</a:t>
            </a:r>
          </a:p>
          <a:p>
            <a:pPr algn="ctr">
              <a:lnSpc>
                <a:spcPct val="120000"/>
              </a:lnSpc>
            </a:pPr>
            <a:r>
              <a:rPr lang="en-US" sz="2400" dirty="0" smtClean="0"/>
              <a:t>*Work done at VMware Research</a:t>
            </a:r>
            <a:endParaRPr lang="en-US" sz="2400" dirty="0"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0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Bitcoin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5"/>
            <a:ext cx="8229600" cy="1631216"/>
          </a:xfrm>
        </p:spPr>
        <p:txBody>
          <a:bodyPr/>
          <a:lstStyle/>
          <a:p>
            <a:r>
              <a:rPr lang="en-US" dirty="0" smtClean="0"/>
              <a:t>Ordered blocks (of transactions)</a:t>
            </a:r>
          </a:p>
          <a:p>
            <a:r>
              <a:rPr lang="en-US" dirty="0" smtClean="0"/>
              <a:t>A block must be hard to generate -- mining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3829" y="3872154"/>
            <a:ext cx="2493933" cy="12926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Alice pays Bob $1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           &amp;  Dan $2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Dan pays Carol $50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6498" y="3872154"/>
            <a:ext cx="247610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Carol pays Bob $50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8976" y="5334000"/>
            <a:ext cx="2725970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Carol pays Carol’ $50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……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971801" y="4145362"/>
            <a:ext cx="533400" cy="510062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971801" y="4655424"/>
            <a:ext cx="587829" cy="907178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32827" y="3872154"/>
            <a:ext cx="2377773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Bob pays Alice $10</a:t>
            </a:r>
          </a:p>
          <a:p>
            <a:pPr algn="just">
              <a:lnSpc>
                <a:spcPct val="90000"/>
              </a:lnSpc>
            </a:pPr>
            <a:r>
              <a:rPr lang="en-US" sz="2000" dirty="0" smtClean="0">
                <a:latin typeface="Gill Sans" charset="0"/>
                <a:ea typeface="Gill Sans" charset="0"/>
                <a:cs typeface="Gill Sans" charset="0"/>
              </a:rPr>
              <a:t>……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0201" y="4901518"/>
            <a:ext cx="1928733" cy="461665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smtClean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Double spending</a:t>
            </a:r>
          </a:p>
        </p:txBody>
      </p:sp>
    </p:spTree>
    <p:extLst>
      <p:ext uri="{BB962C8B-B14F-4D97-AF65-F5344CB8AC3E}">
        <p14:creationId xmlns:p14="http://schemas.microsoft.com/office/powerpoint/2010/main" val="75135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0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Bitcoin Mining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822789"/>
          </a:xfrm>
        </p:spPr>
        <p:txBody>
          <a:bodyPr/>
          <a:lstStyle/>
          <a:p>
            <a:r>
              <a:rPr lang="en-US" dirty="0" smtClean="0"/>
              <a:t>Mining: solve hard puzzles</a:t>
            </a:r>
            <a:endParaRPr lang="en-US" dirty="0" smtClean="0">
              <a:solidFill>
                <a:srgbClr val="00B050"/>
              </a:solidFill>
            </a:endParaRP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71660" y="6464301"/>
            <a:ext cx="338138" cy="149224"/>
          </a:xfrm>
        </p:spPr>
        <p:txBody>
          <a:bodyPr/>
          <a:lstStyle/>
          <a:p>
            <a:fld id="{6EA6D8CF-3CDE-4807-BCD2-C9F2B831AAA5}" type="slidenum">
              <a:rPr lang="en-US" smtClean="0"/>
              <a:t>3</a:t>
            </a:fld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849765" y="4995346"/>
            <a:ext cx="718723" cy="461665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endParaRPr lang="en-US" sz="2000" dirty="0" smtClean="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61195" y="5024735"/>
            <a:ext cx="718723" cy="461665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endParaRPr lang="en-US" sz="2000" dirty="0" smtClean="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07042" y="5481935"/>
            <a:ext cx="718723" cy="461665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dirty="0" err="1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endParaRPr lang="en-US" sz="2000" dirty="0" smtClean="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447800" y="4764914"/>
            <a:ext cx="6735506" cy="1098762"/>
            <a:chOff x="746845" y="4231886"/>
            <a:chExt cx="7792665" cy="1363291"/>
          </a:xfrm>
        </p:grpSpPr>
        <p:sp>
          <p:nvSpPr>
            <p:cNvPr id="5" name="TextBox 4"/>
            <p:cNvSpPr txBox="1"/>
            <p:nvPr/>
          </p:nvSpPr>
          <p:spPr>
            <a:xfrm>
              <a:off x="746845" y="4231886"/>
              <a:ext cx="2281303" cy="13632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91440" tIns="91440" rIns="91440" bIns="91440" rtlCol="0" anchor="ctr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Alice pays Bob $1</a:t>
              </a:r>
            </a:p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Alice pays Dan $2</a:t>
              </a:r>
            </a:p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Dan pays Carol $50</a:t>
              </a:r>
            </a:p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……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549454" y="4247020"/>
              <a:ext cx="2265392" cy="779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91440" tIns="91440" rIns="91440" bIns="91440" rtlCol="0" anchor="ctr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Carol pays Bob $50</a:t>
              </a:r>
            </a:p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……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69031" y="4247020"/>
              <a:ext cx="2170479" cy="779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91440" tIns="91440" rIns="91440" bIns="91440" rtlCol="0" anchor="ctr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Bob pays Alice $10</a:t>
              </a:r>
            </a:p>
            <a:p>
              <a:pPr algn="just">
                <a:lnSpc>
                  <a:spcPct val="90000"/>
                </a:lnSpc>
              </a:pPr>
              <a:r>
                <a:rPr lang="en-US" sz="1600" dirty="0" smtClean="0">
                  <a:latin typeface="Gill Sans" charset="0"/>
                  <a:ea typeface="Gill Sans" charset="0"/>
                  <a:cs typeface="Gill Sans" charset="0"/>
                </a:rPr>
                <a:t>……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H="1">
              <a:off x="3028148" y="4494324"/>
              <a:ext cx="5401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miter lim="800000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5810852" y="4495798"/>
              <a:ext cx="55817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miter lim="800000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000544" y="2615730"/>
            <a:ext cx="1433406" cy="9602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2800" dirty="0" smtClean="0">
                <a:latin typeface="Gill Sans" charset="0"/>
                <a:ea typeface="Gill Sans" charset="0"/>
                <a:cs typeface="Gill Sans" charset="0"/>
              </a:rPr>
              <a:t>Random</a:t>
            </a:r>
          </a:p>
          <a:p>
            <a:pPr algn="ctr">
              <a:lnSpc>
                <a:spcPct val="90000"/>
              </a:lnSpc>
            </a:pPr>
            <a:r>
              <a:rPr lang="en-US" altLang="zh-CN" sz="2800" dirty="0" smtClean="0">
                <a:latin typeface="Gill Sans" charset="0"/>
                <a:ea typeface="Gill Sans" charset="0"/>
                <a:cs typeface="Gill Sans" charset="0"/>
              </a:rPr>
              <a:t>function</a:t>
            </a:r>
            <a:endParaRPr lang="en-US" sz="2800" dirty="0" smtClean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0800" y="2057400"/>
            <a:ext cx="96693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Puzzle</a:t>
            </a:r>
            <a:endParaRPr lang="en-US" sz="2400" dirty="0"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9" name="Elbow Connector 18"/>
          <p:cNvCxnSpPr>
            <a:stCxn id="18" idx="2"/>
          </p:cNvCxnSpPr>
          <p:nvPr/>
        </p:nvCxnSpPr>
        <p:spPr>
          <a:xfrm rot="16200000" flipH="1">
            <a:off x="1296548" y="2136782"/>
            <a:ext cx="347364" cy="1111929"/>
          </a:xfrm>
          <a:prstGeom prst="bentConnector2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2020" y="3576935"/>
            <a:ext cx="94448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nonce</a:t>
            </a:r>
            <a:endParaRPr lang="en-US" sz="2400" dirty="0"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2" name="Elbow Connector 21"/>
          <p:cNvCxnSpPr>
            <a:stCxn id="21" idx="0"/>
          </p:cNvCxnSpPr>
          <p:nvPr/>
        </p:nvCxnSpPr>
        <p:spPr>
          <a:xfrm rot="5400000" flipH="1" flipV="1">
            <a:off x="1305574" y="2881966"/>
            <a:ext cx="303660" cy="1086279"/>
          </a:xfrm>
          <a:prstGeom prst="bentConnector2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3"/>
          </p:cNvCxnSpPr>
          <p:nvPr/>
        </p:nvCxnSpPr>
        <p:spPr>
          <a:xfrm flipV="1">
            <a:off x="3433950" y="3095861"/>
            <a:ext cx="583118" cy="1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59060" y="2808431"/>
            <a:ext cx="2488182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latin typeface="Gill Sans" charset="0"/>
                <a:ea typeface="Gill Sans" charset="0"/>
                <a:cs typeface="Gill Sans" charset="0"/>
              </a:rPr>
              <a:t>ffffffffca780f89</a:t>
            </a:r>
            <a:endParaRPr lang="en-US" sz="3200" dirty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31998" y="2865029"/>
            <a:ext cx="186807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Gill Sans" charset="0"/>
                <a:ea typeface="Gill Sans" charset="0"/>
                <a:cs typeface="Gill Sans" charset="0"/>
              </a:rPr>
              <a:t>&gt; Threshold ?</a:t>
            </a:r>
            <a:endParaRPr lang="en-US" sz="2400" dirty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6930" y="3919501"/>
            <a:ext cx="353327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Proof-of-Work (</a:t>
            </a:r>
            <a:r>
              <a:rPr lang="en-US" sz="2800" dirty="0" err="1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)</a:t>
            </a:r>
            <a:endParaRPr lang="en-US" sz="2800" dirty="0"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23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2" grpId="0"/>
      <p:bldP spid="17" grpId="0" animBg="1"/>
      <p:bldP spid="18" grpId="0"/>
      <p:bldP spid="21" grpId="0"/>
      <p:bldP spid="24" grpId="0"/>
      <p:bldP spid="27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Permissionless</a:t>
            </a:r>
            <a:r>
              <a:rPr lang="en-US" sz="4000" dirty="0" smtClean="0"/>
              <a:t> Consensus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19543" y="2949715"/>
            <a:ext cx="212414" cy="707576"/>
            <a:chOff x="11327657" y="2789953"/>
            <a:chExt cx="283218" cy="943434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grpSp>
          <p:nvGrpSpPr>
            <p:cNvPr id="16" name="Group 15"/>
            <p:cNvGrpSpPr/>
            <p:nvPr/>
          </p:nvGrpSpPr>
          <p:grpSpPr>
            <a:xfrm>
              <a:off x="11327657" y="2937832"/>
              <a:ext cx="283218" cy="795555"/>
              <a:chOff x="11327657" y="2937832"/>
              <a:chExt cx="283218" cy="795555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>
                <a:off x="11327657" y="2937832"/>
                <a:ext cx="283218" cy="249898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9" name="Straight Connector 18"/>
              <p:cNvCxnSpPr>
                <a:stCxn id="18" idx="2"/>
              </p:cNvCxnSpPr>
              <p:nvPr/>
            </p:nvCxnSpPr>
            <p:spPr>
              <a:xfrm flipH="1">
                <a:off x="11466937" y="3187730"/>
                <a:ext cx="2329" cy="147879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oup 19"/>
              <p:cNvGrpSpPr/>
              <p:nvPr/>
            </p:nvGrpSpPr>
            <p:grpSpPr>
              <a:xfrm>
                <a:off x="11327657" y="3335610"/>
                <a:ext cx="283218" cy="397777"/>
                <a:chOff x="5373112" y="210393"/>
                <a:chExt cx="550258" cy="772833"/>
              </a:xfrm>
              <a:grpFill/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5373112" y="210393"/>
                  <a:ext cx="550258" cy="485522"/>
                </a:xfrm>
                <a:prstGeom prst="rect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22" name="Straight Connector 21"/>
                <p:cNvCxnSpPr>
                  <a:stCxn id="21" idx="2"/>
                </p:cNvCxnSpPr>
                <p:nvPr/>
              </p:nvCxnSpPr>
              <p:spPr>
                <a:xfrm flipH="1">
                  <a:off x="5643716" y="695915"/>
                  <a:ext cx="4525" cy="28731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/>
            <p:cNvCxnSpPr/>
            <p:nvPr/>
          </p:nvCxnSpPr>
          <p:spPr>
            <a:xfrm flipH="1">
              <a:off x="11464608" y="2789953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923956" y="4918472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24" name="Rectangle 23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5" name="Straight Connector 24"/>
            <p:cNvCxnSpPr>
              <a:stCxn id="24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28" name="Rectangle 27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29" name="Straight Connector 28"/>
              <p:cNvCxnSpPr>
                <a:stCxn id="28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2516101" y="4478787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31" name="Rectangle 30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2" name="Straight Connector 31"/>
            <p:cNvCxnSpPr>
              <a:stCxn id="31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35" name="Rectangle 34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36" name="Straight Connector 35"/>
              <p:cNvCxnSpPr>
                <a:stCxn id="35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1222693" y="4022656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38" name="Rectangle 37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9" name="Straight Connector 38"/>
            <p:cNvCxnSpPr>
              <a:stCxn id="38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42" name="Rectangle 41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43" name="Straight Connector 42"/>
              <p:cNvCxnSpPr>
                <a:stCxn id="42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8419543" y="3664652"/>
            <a:ext cx="212414" cy="298333"/>
            <a:chOff x="11327657" y="3743202"/>
            <a:chExt cx="283218" cy="397777"/>
          </a:xfrm>
        </p:grpSpPr>
        <p:sp>
          <p:nvSpPr>
            <p:cNvPr id="45" name="Rectangle 44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6" name="Straight Connector 45"/>
            <p:cNvCxnSpPr>
              <a:stCxn id="45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6920463" y="5622885"/>
            <a:ext cx="212414" cy="298333"/>
            <a:chOff x="11327657" y="3743202"/>
            <a:chExt cx="283218" cy="397777"/>
          </a:xfrm>
        </p:grpSpPr>
        <p:sp>
          <p:nvSpPr>
            <p:cNvPr id="48" name="Rectangle 47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49" name="Straight Connector 48"/>
            <p:cNvCxnSpPr>
              <a:stCxn id="48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2512608" y="5186363"/>
            <a:ext cx="212414" cy="298333"/>
            <a:chOff x="11327657" y="3743202"/>
            <a:chExt cx="283218" cy="397777"/>
          </a:xfrm>
        </p:grpSpPr>
        <p:sp>
          <p:nvSpPr>
            <p:cNvPr id="51" name="Rectangle 50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52" name="Straight Connector 51"/>
            <p:cNvCxnSpPr>
              <a:stCxn id="51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1219200" y="4730867"/>
            <a:ext cx="212414" cy="298333"/>
            <a:chOff x="11327657" y="3743202"/>
            <a:chExt cx="283218" cy="397777"/>
          </a:xfrm>
        </p:grpSpPr>
        <p:sp>
          <p:nvSpPr>
            <p:cNvPr id="54" name="Rectangle 53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55" name="Straight Connector 54"/>
            <p:cNvCxnSpPr>
              <a:stCxn id="54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8314674" y="4486482"/>
            <a:ext cx="212414" cy="707576"/>
            <a:chOff x="11327657" y="2789953"/>
            <a:chExt cx="283218" cy="943434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grpSp>
          <p:nvGrpSpPr>
            <p:cNvPr id="71" name="Group 70"/>
            <p:cNvGrpSpPr/>
            <p:nvPr/>
          </p:nvGrpSpPr>
          <p:grpSpPr>
            <a:xfrm>
              <a:off x="11327657" y="2937832"/>
              <a:ext cx="283218" cy="795555"/>
              <a:chOff x="11327657" y="2937832"/>
              <a:chExt cx="283218" cy="795555"/>
            </a:xfrm>
            <a:grpFill/>
          </p:grpSpPr>
          <p:sp>
            <p:nvSpPr>
              <p:cNvPr id="73" name="Rectangle 72"/>
              <p:cNvSpPr/>
              <p:nvPr/>
            </p:nvSpPr>
            <p:spPr>
              <a:xfrm>
                <a:off x="11327657" y="2937832"/>
                <a:ext cx="283218" cy="249898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b="1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74" name="Straight Connector 73"/>
              <p:cNvCxnSpPr>
                <a:stCxn id="73" idx="2"/>
              </p:cNvCxnSpPr>
              <p:nvPr/>
            </p:nvCxnSpPr>
            <p:spPr>
              <a:xfrm flipH="1">
                <a:off x="11466937" y="3187730"/>
                <a:ext cx="2329" cy="147879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Group 74"/>
              <p:cNvGrpSpPr/>
              <p:nvPr/>
            </p:nvGrpSpPr>
            <p:grpSpPr>
              <a:xfrm>
                <a:off x="11327657" y="3335610"/>
                <a:ext cx="283218" cy="397777"/>
                <a:chOff x="5373112" y="210393"/>
                <a:chExt cx="550258" cy="772833"/>
              </a:xfrm>
              <a:grpFill/>
            </p:grpSpPr>
            <p:sp>
              <p:nvSpPr>
                <p:cNvPr id="76" name="Rectangle 75"/>
                <p:cNvSpPr/>
                <p:nvPr/>
              </p:nvSpPr>
              <p:spPr>
                <a:xfrm>
                  <a:off x="5373112" y="210393"/>
                  <a:ext cx="550258" cy="485522"/>
                </a:xfrm>
                <a:prstGeom prst="rect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b="1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cxnSp>
              <p:nvCxnSpPr>
                <p:cNvPr id="77" name="Straight Connector 76"/>
                <p:cNvCxnSpPr>
                  <a:stCxn id="76" idx="2"/>
                </p:cNvCxnSpPr>
                <p:nvPr/>
              </p:nvCxnSpPr>
              <p:spPr>
                <a:xfrm flipH="1">
                  <a:off x="5643716" y="695915"/>
                  <a:ext cx="4525" cy="28731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2" name="Straight Connector 71"/>
            <p:cNvCxnSpPr/>
            <p:nvPr/>
          </p:nvCxnSpPr>
          <p:spPr>
            <a:xfrm flipH="1">
              <a:off x="11464608" y="2789953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8314674" y="5201419"/>
            <a:ext cx="212414" cy="298333"/>
            <a:chOff x="11327657" y="3743202"/>
            <a:chExt cx="283218" cy="397777"/>
          </a:xfrm>
        </p:grpSpPr>
        <p:sp>
          <p:nvSpPr>
            <p:cNvPr id="79" name="Rectangle 78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80" name="Straight Connector 79"/>
            <p:cNvCxnSpPr>
              <a:stCxn id="79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87" name="Picture 6" descr="http://www.clker.com/cliparts/8/2/3/e/1283478466169163413dollar%20sign%20.svg.h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810" y="5236920"/>
            <a:ext cx="286912" cy="54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-569119" y="2971800"/>
            <a:ext cx="9865519" cy="2668877"/>
            <a:chOff x="-457200" y="2992480"/>
            <a:chExt cx="9865519" cy="2668877"/>
          </a:xfrm>
        </p:grpSpPr>
        <p:sp>
          <p:nvSpPr>
            <p:cNvPr id="12" name="Rectangle 11"/>
            <p:cNvSpPr/>
            <p:nvPr/>
          </p:nvSpPr>
          <p:spPr>
            <a:xfrm>
              <a:off x="1910879" y="4729089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Alice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79419" y="2992480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Bob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79219" y="5138137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Emily</a:t>
              </a:r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878682" y="3457575"/>
              <a:ext cx="7440290" cy="1728788"/>
              <a:chOff x="1171575" y="3467100"/>
              <a:chExt cx="9920387" cy="2305050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1171575" y="3467100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4276725" y="5057775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8496300" y="5610225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0791825" y="3467100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64" name="Straight Connector 63"/>
              <p:cNvCxnSpPr>
                <a:stCxn id="61" idx="7"/>
                <a:endCxn id="63" idx="2"/>
              </p:cNvCxnSpPr>
              <p:nvPr/>
            </p:nvCxnSpPr>
            <p:spPr>
              <a:xfrm flipV="1">
                <a:off x="4414937" y="3548063"/>
                <a:ext cx="6376888" cy="1533425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>
                <a:stCxn id="62" idx="7"/>
                <a:endCxn id="63" idx="3"/>
              </p:cNvCxnSpPr>
              <p:nvPr/>
            </p:nvCxnSpPr>
            <p:spPr>
              <a:xfrm flipV="1">
                <a:off x="8634512" y="3605312"/>
                <a:ext cx="2181026" cy="202862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>
                <a:stCxn id="61" idx="6"/>
                <a:endCxn id="62" idx="2"/>
              </p:cNvCxnSpPr>
              <p:nvPr/>
            </p:nvCxnSpPr>
            <p:spPr>
              <a:xfrm>
                <a:off x="4438650" y="5138738"/>
                <a:ext cx="4057650" cy="55245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0" idx="5"/>
                <a:endCxn id="61" idx="1"/>
              </p:cNvCxnSpPr>
              <p:nvPr/>
            </p:nvCxnSpPr>
            <p:spPr>
              <a:xfrm>
                <a:off x="1309787" y="3605312"/>
                <a:ext cx="2990651" cy="147617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Oval 67"/>
              <p:cNvSpPr/>
              <p:nvPr/>
            </p:nvSpPr>
            <p:spPr>
              <a:xfrm>
                <a:off x="10930037" y="4882479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69" name="Straight Connector 68"/>
              <p:cNvCxnSpPr>
                <a:stCxn id="68" idx="0"/>
                <a:endCxn id="63" idx="4"/>
              </p:cNvCxnSpPr>
              <p:nvPr/>
            </p:nvCxnSpPr>
            <p:spPr>
              <a:xfrm flipH="1" flipV="1">
                <a:off x="10872788" y="3629025"/>
                <a:ext cx="138212" cy="1253454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Rectangle 80"/>
            <p:cNvSpPr/>
            <p:nvPr/>
          </p:nvSpPr>
          <p:spPr>
            <a:xfrm>
              <a:off x="6515100" y="4173841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Dave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-457200" y="3591580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Charlie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1774648" y="5781658"/>
            <a:ext cx="3082319" cy="9541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Newly minted coins</a:t>
            </a:r>
          </a:p>
          <a:p>
            <a:pPr algn="ctr"/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&amp; </a:t>
            </a:r>
            <a:r>
              <a:rPr lang="en-US" sz="2800" dirty="0" err="1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tx</a:t>
            </a:r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 fees</a:t>
            </a:r>
            <a:endParaRPr lang="en-US" sz="2800" dirty="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738664"/>
          </a:xfrm>
        </p:spPr>
        <p:txBody>
          <a:bodyPr/>
          <a:lstStyle/>
          <a:p>
            <a:r>
              <a:rPr lang="en-US" dirty="0" smtClean="0"/>
              <a:t>Bitcoin: </a:t>
            </a:r>
            <a:r>
              <a:rPr lang="en-US" dirty="0" err="1" smtClean="0"/>
              <a:t>PoW</a:t>
            </a:r>
            <a:r>
              <a:rPr lang="en-US" dirty="0" smtClean="0"/>
              <a:t> + longest </a:t>
            </a:r>
            <a:r>
              <a:rPr lang="en-US" dirty="0"/>
              <a:t>chain </a:t>
            </a:r>
            <a:r>
              <a:rPr lang="en-US" dirty="0" smtClean="0"/>
              <a:t>wins</a:t>
            </a:r>
          </a:p>
        </p:txBody>
      </p:sp>
    </p:spTree>
    <p:extLst>
      <p:ext uri="{BB962C8B-B14F-4D97-AF65-F5344CB8AC3E}">
        <p14:creationId xmlns:p14="http://schemas.microsoft.com/office/powerpoint/2010/main" val="181589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Permissionless</a:t>
            </a:r>
            <a:r>
              <a:rPr lang="en-US" sz="4000" dirty="0" smtClean="0"/>
              <a:t> </a:t>
            </a:r>
            <a:r>
              <a:rPr lang="en-US" sz="4000" dirty="0"/>
              <a:t>Consensus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647421"/>
          </a:xfrm>
        </p:spPr>
        <p:txBody>
          <a:bodyPr/>
          <a:lstStyle/>
          <a:p>
            <a:r>
              <a:rPr lang="en-US" dirty="0" smtClean="0"/>
              <a:t>Bitcoin: </a:t>
            </a:r>
            <a:r>
              <a:rPr lang="en-US" dirty="0" err="1" smtClean="0"/>
              <a:t>PoW</a:t>
            </a:r>
            <a:r>
              <a:rPr lang="en-US" dirty="0" smtClean="0"/>
              <a:t> + longest </a:t>
            </a:r>
            <a:r>
              <a:rPr lang="en-US" dirty="0"/>
              <a:t>chain </a:t>
            </a:r>
            <a:r>
              <a:rPr lang="en-US" dirty="0" smtClean="0"/>
              <a:t>wins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5</a:t>
            </a:fld>
            <a:endParaRPr lang="en-US"/>
          </a:p>
        </p:txBody>
      </p:sp>
      <p:grpSp>
        <p:nvGrpSpPr>
          <p:cNvPr id="124" name="Group 123"/>
          <p:cNvGrpSpPr/>
          <p:nvPr/>
        </p:nvGrpSpPr>
        <p:grpSpPr>
          <a:xfrm>
            <a:off x="8421924" y="3645760"/>
            <a:ext cx="212414" cy="298333"/>
            <a:chOff x="11327657" y="3743202"/>
            <a:chExt cx="283218" cy="397777"/>
          </a:xfrm>
          <a:solidFill>
            <a:srgbClr val="FF0000"/>
          </a:solidFill>
        </p:grpSpPr>
        <p:sp>
          <p:nvSpPr>
            <p:cNvPr id="125" name="Rectangle 124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6" name="Straight Connector 125"/>
            <p:cNvCxnSpPr>
              <a:stCxn id="125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7" name="Group 126"/>
          <p:cNvGrpSpPr/>
          <p:nvPr/>
        </p:nvGrpSpPr>
        <p:grpSpPr>
          <a:xfrm>
            <a:off x="6922844" y="5603993"/>
            <a:ext cx="212414" cy="298333"/>
            <a:chOff x="11327657" y="3743202"/>
            <a:chExt cx="283218" cy="397777"/>
          </a:xfrm>
        </p:grpSpPr>
        <p:sp>
          <p:nvSpPr>
            <p:cNvPr id="128" name="Rectangle 127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9" name="Straight Connector 128"/>
            <p:cNvCxnSpPr>
              <a:stCxn id="128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2514989" y="5167471"/>
            <a:ext cx="212414" cy="298333"/>
            <a:chOff x="11327657" y="3743202"/>
            <a:chExt cx="283218" cy="397777"/>
          </a:xfrm>
        </p:grpSpPr>
        <p:sp>
          <p:nvSpPr>
            <p:cNvPr id="131" name="Rectangle 130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32" name="Straight Connector 131"/>
            <p:cNvCxnSpPr>
              <a:stCxn id="131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1219200" y="4736698"/>
            <a:ext cx="212414" cy="298333"/>
            <a:chOff x="11327657" y="3743202"/>
            <a:chExt cx="283218" cy="397777"/>
          </a:xfrm>
        </p:grpSpPr>
        <p:sp>
          <p:nvSpPr>
            <p:cNvPr id="134" name="Rectangle 133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35" name="Straight Connector 134"/>
            <p:cNvCxnSpPr>
              <a:stCxn id="134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8317055" y="5182527"/>
            <a:ext cx="212414" cy="298333"/>
            <a:chOff x="11327657" y="3743202"/>
            <a:chExt cx="283218" cy="397777"/>
          </a:xfrm>
          <a:solidFill>
            <a:srgbClr val="FF0000"/>
          </a:solidFill>
        </p:grpSpPr>
        <p:sp>
          <p:nvSpPr>
            <p:cNvPr id="159" name="Rectangle 158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60" name="Straight Connector 159"/>
            <p:cNvCxnSpPr>
              <a:stCxn id="159" idx="2"/>
            </p:cNvCxnSpPr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5" name="Group 94"/>
          <p:cNvGrpSpPr/>
          <p:nvPr/>
        </p:nvGrpSpPr>
        <p:grpSpPr>
          <a:xfrm>
            <a:off x="8421924" y="2930823"/>
            <a:ext cx="212414" cy="707576"/>
            <a:chOff x="11327657" y="2789953"/>
            <a:chExt cx="283218" cy="943434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grpSp>
          <p:nvGrpSpPr>
            <p:cNvPr id="96" name="Group 95"/>
            <p:cNvGrpSpPr/>
            <p:nvPr/>
          </p:nvGrpSpPr>
          <p:grpSpPr>
            <a:xfrm>
              <a:off x="11327657" y="2937832"/>
              <a:ext cx="283218" cy="795555"/>
              <a:chOff x="11327657" y="2937832"/>
              <a:chExt cx="283218" cy="795555"/>
            </a:xfrm>
            <a:grpFill/>
          </p:grpSpPr>
          <p:sp>
            <p:nvSpPr>
              <p:cNvPr id="98" name="Rectangle 97"/>
              <p:cNvSpPr/>
              <p:nvPr/>
            </p:nvSpPr>
            <p:spPr>
              <a:xfrm>
                <a:off x="11327657" y="2937832"/>
                <a:ext cx="283218" cy="249898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99" name="Straight Connector 98"/>
              <p:cNvCxnSpPr>
                <a:stCxn id="98" idx="2"/>
              </p:cNvCxnSpPr>
              <p:nvPr/>
            </p:nvCxnSpPr>
            <p:spPr>
              <a:xfrm flipH="1">
                <a:off x="11466937" y="3187730"/>
                <a:ext cx="2329" cy="147879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/>
              <p:cNvGrpSpPr/>
              <p:nvPr/>
            </p:nvGrpSpPr>
            <p:grpSpPr>
              <a:xfrm>
                <a:off x="11327657" y="3335610"/>
                <a:ext cx="283218" cy="397777"/>
                <a:chOff x="5373112" y="210393"/>
                <a:chExt cx="550258" cy="772833"/>
              </a:xfrm>
              <a:grpFill/>
            </p:grpSpPr>
            <p:sp>
              <p:nvSpPr>
                <p:cNvPr id="101" name="Rectangle 100"/>
                <p:cNvSpPr/>
                <p:nvPr/>
              </p:nvSpPr>
              <p:spPr>
                <a:xfrm>
                  <a:off x="5373112" y="210393"/>
                  <a:ext cx="550258" cy="485522"/>
                </a:xfrm>
                <a:prstGeom prst="rect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cxnSp>
              <p:nvCxnSpPr>
                <p:cNvPr id="102" name="Straight Connector 101"/>
                <p:cNvCxnSpPr>
                  <a:stCxn id="101" idx="2"/>
                </p:cNvCxnSpPr>
                <p:nvPr/>
              </p:nvCxnSpPr>
              <p:spPr>
                <a:xfrm flipH="1">
                  <a:off x="5643716" y="695915"/>
                  <a:ext cx="4525" cy="28731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" name="Straight Connector 96"/>
            <p:cNvCxnSpPr/>
            <p:nvPr/>
          </p:nvCxnSpPr>
          <p:spPr>
            <a:xfrm flipH="1">
              <a:off x="11464608" y="2789953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/>
          <p:cNvGrpSpPr/>
          <p:nvPr/>
        </p:nvGrpSpPr>
        <p:grpSpPr>
          <a:xfrm>
            <a:off x="6926337" y="4899580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104" name="Rectangle 103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05" name="Straight Connector 104"/>
            <p:cNvCxnSpPr>
              <a:stCxn id="104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108" name="Rectangle 107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09" name="Straight Connector 108"/>
              <p:cNvCxnSpPr>
                <a:stCxn id="108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2518482" y="4459895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111" name="Rectangle 110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2" name="Straight Connector 111"/>
            <p:cNvCxnSpPr>
              <a:stCxn id="111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115" name="Rectangle 114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16" name="Straight Connector 115"/>
              <p:cNvCxnSpPr>
                <a:stCxn id="115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Straight Connector 113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/>
          <p:cNvGrpSpPr/>
          <p:nvPr/>
        </p:nvGrpSpPr>
        <p:grpSpPr>
          <a:xfrm>
            <a:off x="1222693" y="4028487"/>
            <a:ext cx="212414" cy="707576"/>
            <a:chOff x="5373112" y="-76918"/>
            <a:chExt cx="550258" cy="1832977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sp>
          <p:nvSpPr>
            <p:cNvPr id="118" name="Rectangle 117"/>
            <p:cNvSpPr/>
            <p:nvPr/>
          </p:nvSpPr>
          <p:spPr>
            <a:xfrm>
              <a:off x="5373112" y="210393"/>
              <a:ext cx="550258" cy="485522"/>
            </a:xfrm>
            <a:prstGeom prst="rect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9" name="Straight Connector 118"/>
            <p:cNvCxnSpPr>
              <a:stCxn id="118" idx="2"/>
            </p:cNvCxnSpPr>
            <p:nvPr/>
          </p:nvCxnSpPr>
          <p:spPr>
            <a:xfrm flipH="1">
              <a:off x="5643716" y="695915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/>
            <p:cNvGrpSpPr/>
            <p:nvPr/>
          </p:nvGrpSpPr>
          <p:grpSpPr>
            <a:xfrm>
              <a:off x="5373112" y="983226"/>
              <a:ext cx="550258" cy="772833"/>
              <a:chOff x="5373112" y="210393"/>
              <a:chExt cx="550258" cy="772833"/>
            </a:xfrm>
            <a:grpFill/>
          </p:grpSpPr>
          <p:sp>
            <p:nvSpPr>
              <p:cNvPr id="122" name="Rectangle 121"/>
              <p:cNvSpPr/>
              <p:nvPr/>
            </p:nvSpPr>
            <p:spPr>
              <a:xfrm>
                <a:off x="5373112" y="210393"/>
                <a:ext cx="550258" cy="485522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23" name="Straight Connector 122"/>
              <p:cNvCxnSpPr>
                <a:stCxn id="122" idx="2"/>
              </p:cNvCxnSpPr>
              <p:nvPr/>
            </p:nvCxnSpPr>
            <p:spPr>
              <a:xfrm flipH="1">
                <a:off x="5643716" y="695915"/>
                <a:ext cx="4525" cy="287311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1" name="Straight Connector 120"/>
            <p:cNvCxnSpPr/>
            <p:nvPr/>
          </p:nvCxnSpPr>
          <p:spPr>
            <a:xfrm flipH="1">
              <a:off x="5639191" y="-76918"/>
              <a:ext cx="4525" cy="287311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" name="Group 149"/>
          <p:cNvGrpSpPr/>
          <p:nvPr/>
        </p:nvGrpSpPr>
        <p:grpSpPr>
          <a:xfrm>
            <a:off x="8317055" y="4467590"/>
            <a:ext cx="212414" cy="707576"/>
            <a:chOff x="11327657" y="2789953"/>
            <a:chExt cx="283218" cy="943434"/>
          </a:xfrm>
          <a:pattFill prst="wdUpDiag">
            <a:fgClr>
              <a:srgbClr val="F8981D"/>
            </a:fgClr>
            <a:bgClr>
              <a:schemeClr val="bg1"/>
            </a:bgClr>
          </a:pattFill>
        </p:grpSpPr>
        <p:grpSp>
          <p:nvGrpSpPr>
            <p:cNvPr id="151" name="Group 150"/>
            <p:cNvGrpSpPr/>
            <p:nvPr/>
          </p:nvGrpSpPr>
          <p:grpSpPr>
            <a:xfrm>
              <a:off x="11327657" y="2937832"/>
              <a:ext cx="283218" cy="795555"/>
              <a:chOff x="11327657" y="2937832"/>
              <a:chExt cx="283218" cy="795555"/>
            </a:xfrm>
            <a:grpFill/>
          </p:grpSpPr>
          <p:sp>
            <p:nvSpPr>
              <p:cNvPr id="153" name="Rectangle 152"/>
              <p:cNvSpPr/>
              <p:nvPr/>
            </p:nvSpPr>
            <p:spPr>
              <a:xfrm>
                <a:off x="11327657" y="2937832"/>
                <a:ext cx="283218" cy="249898"/>
              </a:xfrm>
              <a:prstGeom prst="rect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54" name="Straight Connector 153"/>
              <p:cNvCxnSpPr>
                <a:stCxn id="153" idx="2"/>
              </p:cNvCxnSpPr>
              <p:nvPr/>
            </p:nvCxnSpPr>
            <p:spPr>
              <a:xfrm flipH="1">
                <a:off x="11466937" y="3187730"/>
                <a:ext cx="2329" cy="147879"/>
              </a:xfrm>
              <a:prstGeom prst="line">
                <a:avLst/>
              </a:prstGeom>
              <a:grp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5" name="Group 154"/>
              <p:cNvGrpSpPr/>
              <p:nvPr/>
            </p:nvGrpSpPr>
            <p:grpSpPr>
              <a:xfrm>
                <a:off x="11327657" y="3335610"/>
                <a:ext cx="283218" cy="397777"/>
                <a:chOff x="5373112" y="210393"/>
                <a:chExt cx="550258" cy="772833"/>
              </a:xfrm>
              <a:grpFill/>
            </p:grpSpPr>
            <p:sp>
              <p:nvSpPr>
                <p:cNvPr id="156" name="Rectangle 155"/>
                <p:cNvSpPr/>
                <p:nvPr/>
              </p:nvSpPr>
              <p:spPr>
                <a:xfrm>
                  <a:off x="5373112" y="210393"/>
                  <a:ext cx="550258" cy="485522"/>
                </a:xfrm>
                <a:prstGeom prst="rect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cxnSp>
              <p:nvCxnSpPr>
                <p:cNvPr id="157" name="Straight Connector 156"/>
                <p:cNvCxnSpPr>
                  <a:stCxn id="156" idx="2"/>
                </p:cNvCxnSpPr>
                <p:nvPr/>
              </p:nvCxnSpPr>
              <p:spPr>
                <a:xfrm flipH="1">
                  <a:off x="5643716" y="695915"/>
                  <a:ext cx="4525" cy="28731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52" name="Straight Connector 151"/>
            <p:cNvCxnSpPr/>
            <p:nvPr/>
          </p:nvCxnSpPr>
          <p:spPr>
            <a:xfrm flipH="1">
              <a:off x="11464608" y="2789953"/>
              <a:ext cx="2329" cy="147879"/>
            </a:xfrm>
            <a:prstGeom prst="line">
              <a:avLst/>
            </a:prstGeom>
            <a:grp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-571500" y="2973588"/>
            <a:ext cx="9867900" cy="2668877"/>
            <a:chOff x="-533400" y="3506988"/>
            <a:chExt cx="9867900" cy="2668877"/>
          </a:xfrm>
        </p:grpSpPr>
        <p:sp>
          <p:nvSpPr>
            <p:cNvPr id="92" name="Rectangle 91"/>
            <p:cNvSpPr/>
            <p:nvPr/>
          </p:nvSpPr>
          <p:spPr>
            <a:xfrm>
              <a:off x="1837060" y="5243597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Alice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705600" y="3506988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Bob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105400" y="5652645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Emily</a:t>
              </a:r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804863" y="3972083"/>
              <a:ext cx="7440290" cy="1728788"/>
              <a:chOff x="1171575" y="3467100"/>
              <a:chExt cx="9920387" cy="2305050"/>
            </a:xfrm>
          </p:grpSpPr>
          <p:sp>
            <p:nvSpPr>
              <p:cNvPr id="140" name="Oval 139"/>
              <p:cNvSpPr/>
              <p:nvPr/>
            </p:nvSpPr>
            <p:spPr>
              <a:xfrm>
                <a:off x="1171575" y="3467100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4276725" y="5057775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8496300" y="5610225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10791825" y="3467100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44" name="Straight Connector 143"/>
              <p:cNvCxnSpPr>
                <a:stCxn id="141" idx="7"/>
                <a:endCxn id="143" idx="2"/>
              </p:cNvCxnSpPr>
              <p:nvPr/>
            </p:nvCxnSpPr>
            <p:spPr>
              <a:xfrm flipV="1">
                <a:off x="4414937" y="3548063"/>
                <a:ext cx="6376888" cy="1533425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>
                <a:stCxn id="142" idx="7"/>
                <a:endCxn id="143" idx="3"/>
              </p:cNvCxnSpPr>
              <p:nvPr/>
            </p:nvCxnSpPr>
            <p:spPr>
              <a:xfrm flipV="1">
                <a:off x="8634512" y="3605312"/>
                <a:ext cx="2181026" cy="202862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>
                <a:stCxn id="141" idx="6"/>
                <a:endCxn id="142" idx="2"/>
              </p:cNvCxnSpPr>
              <p:nvPr/>
            </p:nvCxnSpPr>
            <p:spPr>
              <a:xfrm>
                <a:off x="4438650" y="5138738"/>
                <a:ext cx="4057650" cy="55245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>
                <a:stCxn id="140" idx="5"/>
                <a:endCxn id="141" idx="1"/>
              </p:cNvCxnSpPr>
              <p:nvPr/>
            </p:nvCxnSpPr>
            <p:spPr>
              <a:xfrm>
                <a:off x="1309787" y="3605312"/>
                <a:ext cx="2990651" cy="1476176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Oval 147"/>
              <p:cNvSpPr/>
              <p:nvPr/>
            </p:nvSpPr>
            <p:spPr>
              <a:xfrm>
                <a:off x="10930037" y="4882479"/>
                <a:ext cx="161925" cy="16192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49" name="Straight Connector 148"/>
              <p:cNvCxnSpPr>
                <a:stCxn id="148" idx="0"/>
                <a:endCxn id="143" idx="4"/>
              </p:cNvCxnSpPr>
              <p:nvPr/>
            </p:nvCxnSpPr>
            <p:spPr>
              <a:xfrm flipH="1" flipV="1">
                <a:off x="10872788" y="3629025"/>
                <a:ext cx="138212" cy="1253454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Rectangle 160"/>
            <p:cNvSpPr/>
            <p:nvPr/>
          </p:nvSpPr>
          <p:spPr>
            <a:xfrm>
              <a:off x="6441281" y="4688349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Dave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-533400" y="4124980"/>
              <a:ext cx="26289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" charset="0"/>
                  <a:ea typeface="Gill Sans" charset="0"/>
                  <a:cs typeface="Gill Sans" charset="0"/>
                </a:rPr>
                <a:t>Charlie</a:t>
              </a: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1219200" y="5035667"/>
            <a:ext cx="212414" cy="298333"/>
            <a:chOff x="11327657" y="3743202"/>
            <a:chExt cx="283218" cy="397777"/>
          </a:xfrm>
        </p:grpSpPr>
        <p:sp>
          <p:nvSpPr>
            <p:cNvPr id="169" name="Rectangle 168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0" name="Straight Connector 169"/>
            <p:cNvCxnSpPr/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1" name="Group 170"/>
          <p:cNvGrpSpPr/>
          <p:nvPr/>
        </p:nvGrpSpPr>
        <p:grpSpPr>
          <a:xfrm>
            <a:off x="2513242" y="5465804"/>
            <a:ext cx="212414" cy="298333"/>
            <a:chOff x="11327657" y="3743202"/>
            <a:chExt cx="283218" cy="397777"/>
          </a:xfrm>
        </p:grpSpPr>
        <p:sp>
          <p:nvSpPr>
            <p:cNvPr id="172" name="Rectangle 171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3" name="Straight Connector 172"/>
            <p:cNvCxnSpPr/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6922844" y="5899163"/>
            <a:ext cx="212414" cy="298333"/>
            <a:chOff x="11327657" y="3743202"/>
            <a:chExt cx="283218" cy="397777"/>
          </a:xfrm>
        </p:grpSpPr>
        <p:sp>
          <p:nvSpPr>
            <p:cNvPr id="175" name="Rectangle 174"/>
            <p:cNvSpPr/>
            <p:nvPr/>
          </p:nvSpPr>
          <p:spPr>
            <a:xfrm>
              <a:off x="11327657" y="3743202"/>
              <a:ext cx="283218" cy="249898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11466937" y="3993100"/>
              <a:ext cx="2329" cy="147879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8020485" y="4988057"/>
            <a:ext cx="402777" cy="777449"/>
            <a:chOff x="8020485" y="5521457"/>
            <a:chExt cx="402777" cy="777449"/>
          </a:xfrm>
        </p:grpSpPr>
        <p:grpSp>
          <p:nvGrpSpPr>
            <p:cNvPr id="180" name="Group 179"/>
            <p:cNvGrpSpPr/>
            <p:nvPr/>
          </p:nvGrpSpPr>
          <p:grpSpPr>
            <a:xfrm>
              <a:off x="8020485" y="5705403"/>
              <a:ext cx="212414" cy="298333"/>
              <a:chOff x="11327657" y="3743202"/>
              <a:chExt cx="283218" cy="397777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11327657" y="3743202"/>
                <a:ext cx="283218" cy="249898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82" name="Straight Connector 181"/>
              <p:cNvCxnSpPr/>
              <p:nvPr/>
            </p:nvCxnSpPr>
            <p:spPr>
              <a:xfrm flipH="1">
                <a:off x="11466937" y="3993100"/>
                <a:ext cx="2329" cy="147879"/>
              </a:xfrm>
              <a:prstGeom prst="line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3" name="Group 182"/>
            <p:cNvGrpSpPr/>
            <p:nvPr/>
          </p:nvGrpSpPr>
          <p:grpSpPr>
            <a:xfrm>
              <a:off x="8020485" y="6000573"/>
              <a:ext cx="212414" cy="298333"/>
              <a:chOff x="11327657" y="3743202"/>
              <a:chExt cx="283218" cy="397777"/>
            </a:xfrm>
          </p:grpSpPr>
          <p:sp>
            <p:nvSpPr>
              <p:cNvPr id="184" name="Rectangle 183"/>
              <p:cNvSpPr/>
              <p:nvPr/>
            </p:nvSpPr>
            <p:spPr>
              <a:xfrm>
                <a:off x="11327657" y="3743202"/>
                <a:ext cx="283218" cy="249898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85" name="Straight Connector 184"/>
              <p:cNvCxnSpPr/>
              <p:nvPr/>
            </p:nvCxnSpPr>
            <p:spPr>
              <a:xfrm flipH="1">
                <a:off x="11466937" y="3993100"/>
                <a:ext cx="2329" cy="147879"/>
              </a:xfrm>
              <a:prstGeom prst="line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93" name="Straight Connector 192"/>
            <p:cNvCxnSpPr>
              <a:stCxn id="181" idx="0"/>
              <a:endCxn id="156" idx="2"/>
            </p:cNvCxnSpPr>
            <p:nvPr/>
          </p:nvCxnSpPr>
          <p:spPr>
            <a:xfrm flipV="1">
              <a:off x="8126692" y="5521457"/>
              <a:ext cx="296570" cy="183946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8528131" y="3451290"/>
            <a:ext cx="418674" cy="785003"/>
            <a:chOff x="8528131" y="3984690"/>
            <a:chExt cx="418674" cy="785003"/>
          </a:xfrm>
        </p:grpSpPr>
        <p:grpSp>
          <p:nvGrpSpPr>
            <p:cNvPr id="187" name="Group 186"/>
            <p:cNvGrpSpPr/>
            <p:nvPr/>
          </p:nvGrpSpPr>
          <p:grpSpPr>
            <a:xfrm>
              <a:off x="8734391" y="4176190"/>
              <a:ext cx="212414" cy="298333"/>
              <a:chOff x="11327657" y="3743202"/>
              <a:chExt cx="283218" cy="397777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11327657" y="3743202"/>
                <a:ext cx="283218" cy="249898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92" name="Straight Connector 191"/>
              <p:cNvCxnSpPr/>
              <p:nvPr/>
            </p:nvCxnSpPr>
            <p:spPr>
              <a:xfrm flipH="1">
                <a:off x="11466937" y="3993100"/>
                <a:ext cx="2329" cy="147879"/>
              </a:xfrm>
              <a:prstGeom prst="line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8" name="Group 187"/>
            <p:cNvGrpSpPr/>
            <p:nvPr/>
          </p:nvGrpSpPr>
          <p:grpSpPr>
            <a:xfrm>
              <a:off x="8734391" y="4471360"/>
              <a:ext cx="212414" cy="298333"/>
              <a:chOff x="11327657" y="3743202"/>
              <a:chExt cx="283218" cy="397777"/>
            </a:xfrm>
          </p:grpSpPr>
          <p:sp>
            <p:nvSpPr>
              <p:cNvPr id="189" name="Rectangle 188"/>
              <p:cNvSpPr/>
              <p:nvPr/>
            </p:nvSpPr>
            <p:spPr>
              <a:xfrm>
                <a:off x="11327657" y="3743202"/>
                <a:ext cx="283218" cy="249898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cxnSp>
            <p:nvCxnSpPr>
              <p:cNvPr id="190" name="Straight Connector 189"/>
              <p:cNvCxnSpPr/>
              <p:nvPr/>
            </p:nvCxnSpPr>
            <p:spPr>
              <a:xfrm flipH="1">
                <a:off x="11466937" y="3993100"/>
                <a:ext cx="2329" cy="147879"/>
              </a:xfrm>
              <a:prstGeom prst="line">
                <a:avLst/>
              </a:prstGeom>
              <a:solidFill>
                <a:srgbClr val="0070C0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94" name="Straight Connector 193"/>
            <p:cNvCxnSpPr>
              <a:stCxn id="101" idx="2"/>
              <a:endCxn id="191" idx="0"/>
            </p:cNvCxnSpPr>
            <p:nvPr/>
          </p:nvCxnSpPr>
          <p:spPr>
            <a:xfrm>
              <a:off x="8528131" y="3984690"/>
              <a:ext cx="312467" cy="191500"/>
            </a:xfrm>
            <a:prstGeom prst="line">
              <a:avLst/>
            </a:prstGeom>
            <a:solidFill>
              <a:srgbClr val="0070C0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75318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Bitcoin Consensus is Slow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382000" cy="1631216"/>
          </a:xfrm>
        </p:spPr>
        <p:txBody>
          <a:bodyPr/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10</a:t>
            </a:r>
            <a:r>
              <a:rPr lang="en-US" dirty="0" smtClean="0"/>
              <a:t>min / block, &gt; 60min latency</a:t>
            </a:r>
          </a:p>
          <a:p>
            <a:r>
              <a:rPr lang="en-US" dirty="0" smtClean="0"/>
              <a:t>Byzantine consensus (e.g., PBFT) is instant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6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88524" y="2988913"/>
            <a:ext cx="8726876" cy="2992694"/>
            <a:chOff x="61912" y="3048000"/>
            <a:chExt cx="8726876" cy="2992694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024415" y="3454056"/>
              <a:ext cx="67643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024415" y="4131442"/>
              <a:ext cx="67643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024415" y="4808829"/>
              <a:ext cx="6764373" cy="1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2024415" y="5484723"/>
              <a:ext cx="67643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61912" y="3200400"/>
              <a:ext cx="2165315" cy="556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Member 1</a:t>
              </a: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dirty="0" smtClean="0">
                  <a:latin typeface="Lucida Sans Unicode" panose="020B0602030504020204" pitchFamily="34" charset="0"/>
                </a:rPr>
                <a:t>(Leader)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61912" y="3928525"/>
              <a:ext cx="2165315" cy="4028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Member 2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61912" y="4604419"/>
              <a:ext cx="2165315" cy="4028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Member 3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61912" y="5281805"/>
              <a:ext cx="2165315" cy="4028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Member 4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3372514" y="3048000"/>
              <a:ext cx="4478" cy="2708274"/>
            </a:xfrm>
            <a:prstGeom prst="line">
              <a:avLst/>
            </a:prstGeom>
            <a:noFill/>
            <a:ln w="9525">
              <a:solidFill>
                <a:srgbClr val="635E5D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726582" y="3048000"/>
              <a:ext cx="2986" cy="2708274"/>
            </a:xfrm>
            <a:prstGeom prst="line">
              <a:avLst/>
            </a:prstGeom>
            <a:noFill/>
            <a:ln w="9525">
              <a:solidFill>
                <a:srgbClr val="635E5D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6080650" y="3048000"/>
              <a:ext cx="1493" cy="2708274"/>
            </a:xfrm>
            <a:prstGeom prst="line">
              <a:avLst/>
            </a:prstGeom>
            <a:noFill/>
            <a:ln w="9525">
              <a:solidFill>
                <a:srgbClr val="635E5D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7434719" y="3048000"/>
              <a:ext cx="1" cy="2708274"/>
            </a:xfrm>
            <a:prstGeom prst="line">
              <a:avLst/>
            </a:prstGeom>
            <a:noFill/>
            <a:ln w="9525">
              <a:solidFill>
                <a:srgbClr val="635E5D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2765573" y="5638403"/>
              <a:ext cx="2166806" cy="402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Pre-prepare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086833" y="5638403"/>
              <a:ext cx="2163824" cy="402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 dirty="0" smtClean="0">
                  <a:latin typeface="Lucida Sans Unicode" panose="020B0602030504020204" pitchFamily="34" charset="0"/>
                </a:rPr>
                <a:t>Prepare</a:t>
              </a:r>
              <a:endParaRPr lang="en-US" altLang="en-US" sz="2000" b="0" dirty="0">
                <a:latin typeface="Lucida Sans Unicode" panose="020B0602030504020204" pitchFamily="34" charset="0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5457305" y="5638403"/>
              <a:ext cx="2165315" cy="402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marL="741363" indent="-284163"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4572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AU" altLang="en-US" sz="2000" b="0">
                  <a:latin typeface="Lucida Sans Unicode" panose="020B0602030504020204" pitchFamily="34" charset="0"/>
                </a:rPr>
                <a:t>Commit</a:t>
              </a:r>
              <a:endParaRPr lang="en-US" altLang="en-US" sz="2000" b="0">
                <a:latin typeface="Lucida Sans Unicode" panose="020B0602030504020204" pitchFamily="34" charset="0"/>
              </a:endParaRPr>
            </a:p>
          </p:txBody>
        </p:sp>
        <p:sp>
          <p:nvSpPr>
            <p:cNvPr id="22" name="Line 27"/>
            <p:cNvSpPr>
              <a:spLocks noChangeShapeType="1"/>
            </p:cNvSpPr>
            <p:nvPr/>
          </p:nvSpPr>
          <p:spPr bwMode="auto">
            <a:xfrm>
              <a:off x="3376992" y="3454056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" name="Line 28"/>
            <p:cNvSpPr>
              <a:spLocks noChangeShapeType="1"/>
            </p:cNvSpPr>
            <p:nvPr/>
          </p:nvSpPr>
          <p:spPr bwMode="auto">
            <a:xfrm>
              <a:off x="3376992" y="3454056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3376992" y="3454056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V="1">
              <a:off x="4729568" y="3454056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>
              <a:off x="4729568" y="4131442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4729568" y="4131442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8" name="Line 33"/>
            <p:cNvSpPr>
              <a:spLocks noChangeShapeType="1"/>
            </p:cNvSpPr>
            <p:nvPr/>
          </p:nvSpPr>
          <p:spPr bwMode="auto">
            <a:xfrm flipV="1">
              <a:off x="4729568" y="3454056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 flipV="1">
              <a:off x="4729568" y="4131442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4729568" y="4808829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 flipV="1">
              <a:off x="4729568" y="3454056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 flipV="1">
              <a:off x="4729568" y="4131442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 flipV="1">
              <a:off x="4729568" y="4808829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4" name="Line 39"/>
            <p:cNvSpPr>
              <a:spLocks noChangeShapeType="1"/>
            </p:cNvSpPr>
            <p:nvPr/>
          </p:nvSpPr>
          <p:spPr bwMode="auto">
            <a:xfrm>
              <a:off x="6082144" y="3454056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5" name="Line 40"/>
            <p:cNvSpPr>
              <a:spLocks noChangeShapeType="1"/>
            </p:cNvSpPr>
            <p:nvPr/>
          </p:nvSpPr>
          <p:spPr bwMode="auto">
            <a:xfrm>
              <a:off x="6082144" y="3454056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6" name="Line 41"/>
            <p:cNvSpPr>
              <a:spLocks noChangeShapeType="1"/>
            </p:cNvSpPr>
            <p:nvPr/>
          </p:nvSpPr>
          <p:spPr bwMode="auto">
            <a:xfrm>
              <a:off x="6082144" y="3454056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7" name="Line 42"/>
            <p:cNvSpPr>
              <a:spLocks noChangeShapeType="1"/>
            </p:cNvSpPr>
            <p:nvPr/>
          </p:nvSpPr>
          <p:spPr bwMode="auto">
            <a:xfrm flipV="1">
              <a:off x="6082144" y="3454056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8" name="Line 43"/>
            <p:cNvSpPr>
              <a:spLocks noChangeShapeType="1"/>
            </p:cNvSpPr>
            <p:nvPr/>
          </p:nvSpPr>
          <p:spPr bwMode="auto">
            <a:xfrm>
              <a:off x="6082144" y="4131442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9" name="Line 44"/>
            <p:cNvSpPr>
              <a:spLocks noChangeShapeType="1"/>
            </p:cNvSpPr>
            <p:nvPr/>
          </p:nvSpPr>
          <p:spPr bwMode="auto">
            <a:xfrm>
              <a:off x="6082144" y="4131442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0" name="Line 45"/>
            <p:cNvSpPr>
              <a:spLocks noChangeShapeType="1"/>
            </p:cNvSpPr>
            <p:nvPr/>
          </p:nvSpPr>
          <p:spPr bwMode="auto">
            <a:xfrm flipV="1">
              <a:off x="6082144" y="3454056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1" name="Line 46"/>
            <p:cNvSpPr>
              <a:spLocks noChangeShapeType="1"/>
            </p:cNvSpPr>
            <p:nvPr/>
          </p:nvSpPr>
          <p:spPr bwMode="auto">
            <a:xfrm flipV="1">
              <a:off x="6082144" y="4131442"/>
              <a:ext cx="1352576" cy="677386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2" name="Line 47"/>
            <p:cNvSpPr>
              <a:spLocks noChangeShapeType="1"/>
            </p:cNvSpPr>
            <p:nvPr/>
          </p:nvSpPr>
          <p:spPr bwMode="auto">
            <a:xfrm>
              <a:off x="6082144" y="4808829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3" name="Line 48"/>
            <p:cNvSpPr>
              <a:spLocks noChangeShapeType="1"/>
            </p:cNvSpPr>
            <p:nvPr/>
          </p:nvSpPr>
          <p:spPr bwMode="auto">
            <a:xfrm flipV="1">
              <a:off x="6082144" y="3454056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4" name="Line 49"/>
            <p:cNvSpPr>
              <a:spLocks noChangeShapeType="1"/>
            </p:cNvSpPr>
            <p:nvPr/>
          </p:nvSpPr>
          <p:spPr bwMode="auto">
            <a:xfrm flipV="1">
              <a:off x="6082144" y="4131442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5" name="Line 50"/>
            <p:cNvSpPr>
              <a:spLocks noChangeShapeType="1"/>
            </p:cNvSpPr>
            <p:nvPr/>
          </p:nvSpPr>
          <p:spPr bwMode="auto">
            <a:xfrm flipV="1">
              <a:off x="6082144" y="4808829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90462" y="5743319"/>
            <a:ext cx="245952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n = 3f+1</a:t>
            </a:r>
            <a:endParaRPr lang="en-US" sz="2400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77576" y="5985201"/>
            <a:ext cx="4551246" cy="683264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3600" dirty="0" smtClean="0">
                <a:latin typeface="Calibri" panose="020F0502020204030204" pitchFamily="34" charset="0"/>
              </a:rPr>
              <a:t>PBFT	 </a:t>
            </a:r>
            <a:r>
              <a:rPr lang="en-US" sz="2000" dirty="0" smtClean="0">
                <a:latin typeface="Calibri" panose="020F0502020204030204" pitchFamily="34" charset="0"/>
              </a:rPr>
              <a:t>Courtesy of J. Li @ NYU</a:t>
            </a:r>
          </a:p>
        </p:txBody>
      </p:sp>
    </p:spTree>
    <p:extLst>
      <p:ext uri="{BB962C8B-B14F-4D97-AF65-F5344CB8AC3E}">
        <p14:creationId xmlns:p14="http://schemas.microsoft.com/office/powerpoint/2010/main" val="208186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PBFT for </a:t>
            </a:r>
            <a:r>
              <a:rPr lang="en-US" dirty="0" err="1" smtClean="0"/>
              <a:t>Blockchains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3877985"/>
          </a:xfrm>
        </p:spPr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Peercensus</a:t>
            </a:r>
            <a:r>
              <a:rPr lang="en-US" dirty="0"/>
              <a:t>, </a:t>
            </a:r>
            <a:r>
              <a:rPr lang="en-US" dirty="0" err="1"/>
              <a:t>Byzcoin</a:t>
            </a:r>
            <a:r>
              <a:rPr lang="en-US" dirty="0"/>
              <a:t>, Hybrid Consensus</a:t>
            </a:r>
            <a:r>
              <a:rPr lang="en-US" dirty="0" smtClean="0"/>
              <a:t>]</a:t>
            </a:r>
          </a:p>
          <a:p>
            <a:r>
              <a:rPr lang="en-US" dirty="0" smtClean="0"/>
              <a:t>Numerous challenges:</a:t>
            </a:r>
          </a:p>
          <a:p>
            <a:pPr lvl="1"/>
            <a:r>
              <a:rPr lang="en-US" dirty="0" smtClean="0"/>
              <a:t>PBFT is permissioned</a:t>
            </a:r>
          </a:p>
          <a:p>
            <a:pPr lvl="1"/>
            <a:r>
              <a:rPr lang="en-US" dirty="0" smtClean="0"/>
              <a:t>TXs concurrent to reconfiguration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altruistic” </a:t>
            </a:r>
            <a:r>
              <a:rPr lang="en-US" dirty="0" smtClean="0"/>
              <a:t>vs. “rational” participants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33959" y="2819400"/>
            <a:ext cx="3416320" cy="683264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3600" dirty="0" smtClean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Reconfiguration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1987" y="3581400"/>
            <a:ext cx="1997342" cy="683264"/>
          </a:xfrm>
          <a:prstGeom prst="rect">
            <a:avLst/>
          </a:prstGeom>
          <a:noFill/>
          <a:ln w="12700">
            <a:noFill/>
          </a:ln>
        </p:spPr>
        <p:txBody>
          <a:bodyPr wrap="none" lIns="91440" tIns="91440" rIns="91440" bIns="91440" rtlCol="0" anchor="ctr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3600" dirty="0" smtClean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Wedging</a:t>
            </a:r>
          </a:p>
        </p:txBody>
      </p:sp>
    </p:spTree>
    <p:extLst>
      <p:ext uri="{BB962C8B-B14F-4D97-AF65-F5344CB8AC3E}">
        <p14:creationId xmlns:p14="http://schemas.microsoft.com/office/powerpoint/2010/main" val="372695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69055" y="3827543"/>
            <a:ext cx="423514" cy="5232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A</a:t>
            </a:r>
            <a:endParaRPr lang="en-US" sz="2800" dirty="0" smtClean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77811" y="3827543"/>
            <a:ext cx="386644" cy="5232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B</a:t>
            </a:r>
            <a:endParaRPr lang="en-US" sz="2800" dirty="0" smtClean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1655" y="3827543"/>
            <a:ext cx="439544" cy="5232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C</a:t>
            </a:r>
            <a:endParaRPr lang="en-US" sz="2800" dirty="0" smtClean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56008" y="3827543"/>
            <a:ext cx="453971" cy="5232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3281623"/>
            <a:ext cx="4388455" cy="2280977"/>
            <a:chOff x="228600" y="3200400"/>
            <a:chExt cx="3690817" cy="1918367"/>
          </a:xfrm>
        </p:grpSpPr>
        <p:sp>
          <p:nvSpPr>
            <p:cNvPr id="12" name="Oval 11"/>
            <p:cNvSpPr/>
            <p:nvPr/>
          </p:nvSpPr>
          <p:spPr>
            <a:xfrm>
              <a:off x="228600" y="3200400"/>
              <a:ext cx="3690817" cy="137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90183" y="4595547"/>
              <a:ext cx="206852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>
                  <a:latin typeface="Gill Sans" charset="0"/>
                  <a:ea typeface="Gill Sans" charset="0"/>
                  <a:cs typeface="Gill Sans" charset="0"/>
                </a:rPr>
                <a:t>Committee</a:t>
              </a:r>
              <a:endParaRPr lang="en-US" sz="280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66012" y="3827543"/>
            <a:ext cx="1030475" cy="973057"/>
            <a:chOff x="4146632" y="3675143"/>
            <a:chExt cx="1030475" cy="973057"/>
          </a:xfrm>
        </p:grpSpPr>
        <p:sp>
          <p:nvSpPr>
            <p:cNvPr id="15" name="TextBox 14"/>
            <p:cNvSpPr txBox="1"/>
            <p:nvPr/>
          </p:nvSpPr>
          <p:spPr>
            <a:xfrm>
              <a:off x="4395223" y="3675143"/>
              <a:ext cx="364203" cy="52322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70C0"/>
                  </a:solidFill>
                  <a:latin typeface="Gill Sans" charset="0"/>
                  <a:ea typeface="Gill Sans" charset="0"/>
                  <a:cs typeface="Gill Sans" charset="0"/>
                </a:rPr>
                <a:t>E</a:t>
              </a:r>
              <a:endParaRPr lang="en-US" sz="28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46632" y="4124980"/>
              <a:ext cx="10304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 smtClean="0">
                  <a:solidFill>
                    <a:srgbClr val="FF0000"/>
                  </a:solidFill>
                  <a:latin typeface="Gill Sans" charset="0"/>
                  <a:ea typeface="Gill Sans" charset="0"/>
                  <a:cs typeface="Gill Sans" charset="0"/>
                </a:rPr>
                <a:t>PoW</a:t>
              </a:r>
              <a:r>
                <a:rPr lang="en-US" sz="2800" dirty="0" smtClean="0">
                  <a:solidFill>
                    <a:srgbClr val="00B050"/>
                  </a:solidFill>
                  <a:latin typeface="Gill Sans" charset="0"/>
                  <a:ea typeface="Gill Sans" charset="0"/>
                  <a:cs typeface="Gill Sans" charset="0"/>
                </a:rPr>
                <a:t> </a:t>
              </a:r>
              <a:endParaRPr lang="en-US" sz="2800" dirty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7" name="Line 27"/>
          <p:cNvSpPr>
            <a:spLocks noChangeShapeType="1"/>
          </p:cNvSpPr>
          <p:nvPr/>
        </p:nvSpPr>
        <p:spPr bwMode="auto">
          <a:xfrm rot="4174448" flipH="1" flipV="1">
            <a:off x="4446867" y="3245117"/>
            <a:ext cx="12203" cy="424898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28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9931" y="2930192"/>
            <a:ext cx="109196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puzzle</a:t>
            </a:r>
            <a:endParaRPr lang="en-US" sz="2800" dirty="0">
              <a:solidFill>
                <a:srgbClr val="FF000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 rot="4174448" flipH="1" flipV="1">
            <a:off x="5802775" y="3290457"/>
            <a:ext cx="12203" cy="424898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280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05839" y="2975532"/>
            <a:ext cx="109196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rPr>
              <a:t>puzzle</a:t>
            </a:r>
            <a:endParaRPr lang="en-US" sz="2800" dirty="0">
              <a:solidFill>
                <a:srgbClr val="00B05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671576" y="3629132"/>
            <a:ext cx="1342461" cy="578479"/>
            <a:chOff x="4400833" y="3619884"/>
            <a:chExt cx="1342461" cy="578479"/>
          </a:xfrm>
        </p:grpSpPr>
        <p:sp>
          <p:nvSpPr>
            <p:cNvPr id="22" name="TextBox 21"/>
            <p:cNvSpPr txBox="1"/>
            <p:nvPr/>
          </p:nvSpPr>
          <p:spPr>
            <a:xfrm>
              <a:off x="4400833" y="3675143"/>
              <a:ext cx="352982" cy="52322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>
                  <a:solidFill>
                    <a:srgbClr val="0070C0"/>
                  </a:solidFill>
                  <a:latin typeface="Gill Sans" charset="0"/>
                  <a:ea typeface="Gill Sans" charset="0"/>
                  <a:cs typeface="Gill Sans" charset="0"/>
                </a:rPr>
                <a:t>F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12819" y="3619884"/>
              <a:ext cx="10304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 smtClean="0">
                  <a:solidFill>
                    <a:srgbClr val="00B050"/>
                  </a:solidFill>
                  <a:latin typeface="Gill Sans" charset="0"/>
                  <a:ea typeface="Gill Sans" charset="0"/>
                  <a:cs typeface="Gill Sans" charset="0"/>
                </a:rPr>
                <a:t>PoW</a:t>
              </a:r>
              <a:r>
                <a:rPr lang="en-US" sz="2800" dirty="0" smtClean="0">
                  <a:solidFill>
                    <a:srgbClr val="00B050"/>
                  </a:solidFill>
                  <a:latin typeface="Gill Sans" charset="0"/>
                  <a:ea typeface="Gill Sans" charset="0"/>
                  <a:cs typeface="Gill Sans" charset="0"/>
                </a:rPr>
                <a:t> </a:t>
              </a:r>
              <a:endParaRPr lang="en-US" sz="2800" dirty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613707" y="4416556"/>
            <a:ext cx="1432348" cy="523220"/>
            <a:chOff x="4351942" y="3675143"/>
            <a:chExt cx="1432348" cy="523220"/>
          </a:xfrm>
        </p:grpSpPr>
        <p:sp>
          <p:nvSpPr>
            <p:cNvPr id="25" name="TextBox 24"/>
            <p:cNvSpPr txBox="1"/>
            <p:nvPr/>
          </p:nvSpPr>
          <p:spPr>
            <a:xfrm>
              <a:off x="4351942" y="3675143"/>
              <a:ext cx="450764" cy="52322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70C0"/>
                  </a:solidFill>
                  <a:latin typeface="Gill Sans" charset="0"/>
                  <a:ea typeface="Gill Sans" charset="0"/>
                  <a:cs typeface="Gill Sans" charset="0"/>
                </a:rPr>
                <a:t>G</a:t>
              </a:r>
              <a:endParaRPr lang="en-US" sz="28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53815" y="3675143"/>
              <a:ext cx="10304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 smtClean="0">
                  <a:solidFill>
                    <a:srgbClr val="00B050"/>
                  </a:solidFill>
                  <a:latin typeface="Gill Sans" charset="0"/>
                  <a:ea typeface="Gill Sans" charset="0"/>
                  <a:cs typeface="Gill Sans" charset="0"/>
                </a:rPr>
                <a:t>PoW</a:t>
              </a:r>
              <a:r>
                <a:rPr lang="en-US" sz="2800" dirty="0" smtClean="0">
                  <a:solidFill>
                    <a:srgbClr val="00B050"/>
                  </a:solidFill>
                  <a:latin typeface="Gill Sans" charset="0"/>
                  <a:ea typeface="Gill Sans" charset="0"/>
                  <a:cs typeface="Gill Sans" charset="0"/>
                </a:rPr>
                <a:t> </a:t>
              </a:r>
              <a:endParaRPr lang="en-US" sz="2800" dirty="0">
                <a:solidFill>
                  <a:srgbClr val="00B050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07407E-6 L 0.15052 -0.000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1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7" grpId="0" animBg="1"/>
      <p:bldP spid="18" grpId="0"/>
      <p:bldP spid="19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Reconfigure PBFT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9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2928002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605388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282775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4960161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636056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64828" y="2725084"/>
            <a:ext cx="1391349" cy="371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</a:t>
            </a:r>
            <a:endParaRPr lang="en-US" altLang="en-US" sz="1800" b="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399486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solidFill>
                  <a:srgbClr val="C00000"/>
                </a:solidFill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solidFill>
                <a:srgbClr val="C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07985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solidFill>
                  <a:srgbClr val="C00000"/>
                </a:solidFill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solidFill>
                <a:srgbClr val="C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4755752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solidFill>
                  <a:srgbClr val="C00000"/>
                </a:solidFill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solidFill>
                <a:srgbClr val="C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433138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solidFill>
                  <a:srgbClr val="C00000"/>
                </a:solidFill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solidFill>
                <a:srgbClr val="C0000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3119192" y="2590800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4471768" y="2590800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5824345" y="2590800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7176921" y="2590800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2821426" y="5799619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210926" y="5799619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518022" y="5799619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6335262" y="5799619"/>
            <a:ext cx="223185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2" algn="ctr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Propagate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5824345" y="3605388"/>
            <a:ext cx="1352576" cy="2030668"/>
            <a:chOff x="5824345" y="3605388"/>
            <a:chExt cx="1352576" cy="2030668"/>
          </a:xfrm>
        </p:grpSpPr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5824345" y="3605388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5824345" y="3605388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5824345" y="3605388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V="1">
              <a:off x="5824345" y="3605388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5824345" y="4282775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5824345" y="4282775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 flipV="1">
              <a:off x="5824345" y="3605388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5824345" y="4282775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5824345" y="4960161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V="1">
              <a:off x="5824345" y="3605388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 flipV="1">
              <a:off x="5824345" y="4282775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V="1">
              <a:off x="5824345" y="4960161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53" name="Line 51"/>
          <p:cNvSpPr>
            <a:spLocks noChangeShapeType="1"/>
          </p:cNvSpPr>
          <p:nvPr/>
        </p:nvSpPr>
        <p:spPr bwMode="auto">
          <a:xfrm flipV="1">
            <a:off x="7176921" y="2725084"/>
            <a:ext cx="1359073" cy="880304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7176919" y="4961653"/>
            <a:ext cx="1352577" cy="877320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grpSp>
        <p:nvGrpSpPr>
          <p:cNvPr id="27" name="Group 26"/>
          <p:cNvGrpSpPr/>
          <p:nvPr/>
        </p:nvGrpSpPr>
        <p:grpSpPr>
          <a:xfrm>
            <a:off x="3107262" y="2925017"/>
            <a:ext cx="1364506" cy="2711039"/>
            <a:chOff x="3107262" y="2925017"/>
            <a:chExt cx="1364506" cy="2711039"/>
          </a:xfrm>
        </p:grpSpPr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3115674" y="2925018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3107262" y="2925017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3114186" y="2925017"/>
              <a:ext cx="1357582" cy="271103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>
              <a:off x="3108750" y="2925017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774965" y="2925018"/>
            <a:ext cx="696148" cy="2711038"/>
            <a:chOff x="1774965" y="2925018"/>
            <a:chExt cx="696148" cy="2711038"/>
          </a:xfrm>
        </p:grpSpPr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61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465944" y="2927251"/>
            <a:ext cx="649729" cy="2704331"/>
            <a:chOff x="2465944" y="2927251"/>
            <a:chExt cx="649729" cy="2704331"/>
          </a:xfrm>
        </p:grpSpPr>
        <p:sp>
          <p:nvSpPr>
            <p:cNvPr id="63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6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7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468035" y="3605388"/>
            <a:ext cx="1361530" cy="2031410"/>
            <a:chOff x="4468035" y="3605388"/>
            <a:chExt cx="1361530" cy="2031410"/>
          </a:xfrm>
        </p:grpSpPr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4471768" y="3605388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4471768" y="4282775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4471768" y="4282775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4471768" y="3605388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V="1">
              <a:off x="4471768" y="4282775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4471768" y="4960161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4471768" y="3605388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4471768" y="4282775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4471768" y="4960161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4468036" y="3617689"/>
              <a:ext cx="1361529" cy="678879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0" name="Line 40"/>
            <p:cNvSpPr>
              <a:spLocks noChangeShapeType="1"/>
            </p:cNvSpPr>
            <p:nvPr/>
          </p:nvSpPr>
          <p:spPr bwMode="auto">
            <a:xfrm>
              <a:off x="4468035" y="3608373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1" name="Line 41"/>
            <p:cNvSpPr>
              <a:spLocks noChangeShapeType="1"/>
            </p:cNvSpPr>
            <p:nvPr/>
          </p:nvSpPr>
          <p:spPr bwMode="auto">
            <a:xfrm>
              <a:off x="4468798" y="3606131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72" name="TextBox 71"/>
          <p:cNvSpPr txBox="1"/>
          <p:nvPr/>
        </p:nvSpPr>
        <p:spPr>
          <a:xfrm rot="19674276">
            <a:off x="7447791" y="3022475"/>
            <a:ext cx="127470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  <a:latin typeface="Gill Sans" charset="0"/>
                <a:ea typeface="Gill Sans" charset="0"/>
                <a:cs typeface="Gill Sans" charset="0"/>
              </a:rPr>
              <a:t>Decision</a:t>
            </a:r>
            <a:endParaRPr lang="en-US" sz="2400" dirty="0">
              <a:solidFill>
                <a:srgbClr val="C0000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 rot="1904048">
            <a:off x="7387882" y="5067275"/>
            <a:ext cx="127470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  <a:latin typeface="Gill Sans" charset="0"/>
                <a:ea typeface="Gill Sans" charset="0"/>
                <a:cs typeface="Gill Sans" charset="0"/>
              </a:rPr>
              <a:t>Decision</a:t>
            </a:r>
            <a:endParaRPr lang="en-US" sz="2400" dirty="0">
              <a:solidFill>
                <a:srgbClr val="C0000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 rot="4500000">
            <a:off x="1499664" y="4207389"/>
            <a:ext cx="103047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28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28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5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909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smtClean="0"/>
              <a:t>The newcomer acts as an external leader</a:t>
            </a:r>
          </a:p>
        </p:txBody>
      </p:sp>
      <p:sp>
        <p:nvSpPr>
          <p:cNvPr id="77" name="TextBox 76"/>
          <p:cNvSpPr txBox="1"/>
          <p:nvPr/>
        </p:nvSpPr>
        <p:spPr>
          <a:xfrm rot="1648898">
            <a:off x="3255572" y="2874190"/>
            <a:ext cx="155843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Let me in</a:t>
            </a:r>
            <a:endParaRPr lang="en-US" sz="28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27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72" grpId="0"/>
      <p:bldP spid="73" grpId="0"/>
      <p:bldP spid="74" grpId="0"/>
      <p:bldP spid="75" grpId="0" build="p"/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Reconfigure PBFT - Contention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10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2959763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637149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314536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4991922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667817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2756847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43124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111618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478751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464899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5734953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5734953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5734953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456381" y="2956778"/>
            <a:ext cx="1364506" cy="2711039"/>
            <a:chOff x="4456381" y="2717712"/>
            <a:chExt cx="1364506" cy="2711039"/>
          </a:xfrm>
        </p:grpSpPr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4463305" y="2717712"/>
              <a:ext cx="1357582" cy="271103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173464" y="3637149"/>
            <a:ext cx="1352576" cy="2030668"/>
            <a:chOff x="7173464" y="3637149"/>
            <a:chExt cx="1352576" cy="2030668"/>
          </a:xfrm>
        </p:grpSpPr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V="1"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817154" y="3637149"/>
            <a:ext cx="1361530" cy="2031410"/>
            <a:chOff x="5817154" y="3637149"/>
            <a:chExt cx="1361530" cy="2031410"/>
          </a:xfrm>
        </p:grpSpPr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5817155" y="3649450"/>
              <a:ext cx="1361529" cy="678879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0" name="Line 40"/>
            <p:cNvSpPr>
              <a:spLocks noChangeShapeType="1"/>
            </p:cNvSpPr>
            <p:nvPr/>
          </p:nvSpPr>
          <p:spPr bwMode="auto">
            <a:xfrm>
              <a:off x="5817154" y="3640134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1" name="Line 41"/>
            <p:cNvSpPr>
              <a:spLocks noChangeShapeType="1"/>
            </p:cNvSpPr>
            <p:nvPr/>
          </p:nvSpPr>
          <p:spPr bwMode="auto">
            <a:xfrm>
              <a:off x="5817917" y="3637892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64" name="Line 4"/>
          <p:cNvSpPr>
            <a:spLocks noChangeShapeType="1"/>
          </p:cNvSpPr>
          <p:nvPr/>
        </p:nvSpPr>
        <p:spPr bwMode="auto">
          <a:xfrm>
            <a:off x="1766616" y="2362484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141239" y="2164293"/>
            <a:ext cx="159881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7030A0"/>
                </a:solidFill>
                <a:latin typeface="Lucida Sans Unicode" panose="020B0602030504020204" pitchFamily="34" charset="0"/>
              </a:rPr>
              <a:t>Leader B</a:t>
            </a:r>
            <a:endParaRPr lang="en-US" altLang="en-US" sz="1800" dirty="0">
              <a:solidFill>
                <a:srgbClr val="7030A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 rot="3570104">
            <a:off x="3081657" y="2583944"/>
            <a:ext cx="81144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2000" dirty="0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2000" dirty="0">
              <a:solidFill>
                <a:srgbClr val="7030A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062569" y="2364884"/>
            <a:ext cx="691465" cy="3305172"/>
            <a:chOff x="3062570" y="2125818"/>
            <a:chExt cx="420388" cy="3305172"/>
          </a:xfrm>
        </p:grpSpPr>
        <p:sp>
          <p:nvSpPr>
            <p:cNvPr id="93" name="Line 27"/>
            <p:cNvSpPr>
              <a:spLocks noChangeShapeType="1"/>
            </p:cNvSpPr>
            <p:nvPr/>
          </p:nvSpPr>
          <p:spPr bwMode="auto">
            <a:xfrm>
              <a:off x="3074984" y="2129635"/>
              <a:ext cx="401924" cy="194881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4" name="Line 28"/>
            <p:cNvSpPr>
              <a:spLocks noChangeShapeType="1"/>
            </p:cNvSpPr>
            <p:nvPr/>
          </p:nvSpPr>
          <p:spPr bwMode="auto">
            <a:xfrm>
              <a:off x="3068276" y="2125818"/>
              <a:ext cx="414681" cy="262703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5" name="Line 29"/>
            <p:cNvSpPr>
              <a:spLocks noChangeShapeType="1"/>
            </p:cNvSpPr>
            <p:nvPr/>
          </p:nvSpPr>
          <p:spPr bwMode="auto">
            <a:xfrm>
              <a:off x="3068278" y="2125818"/>
              <a:ext cx="414679" cy="3305172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6" name="Line 27"/>
            <p:cNvSpPr>
              <a:spLocks noChangeShapeType="1"/>
            </p:cNvSpPr>
            <p:nvPr/>
          </p:nvSpPr>
          <p:spPr bwMode="auto">
            <a:xfrm>
              <a:off x="3062570" y="2125818"/>
              <a:ext cx="420388" cy="1267040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459020" y="2965353"/>
            <a:ext cx="649729" cy="2704331"/>
            <a:chOff x="2465944" y="2927251"/>
            <a:chExt cx="649729" cy="2704331"/>
          </a:xfrm>
        </p:grpSpPr>
        <p:sp>
          <p:nvSpPr>
            <p:cNvPr id="129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0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33" name="TextBox 132"/>
          <p:cNvSpPr txBox="1"/>
          <p:nvPr/>
        </p:nvSpPr>
        <p:spPr>
          <a:xfrm rot="4500000">
            <a:off x="1303593" y="4208928"/>
            <a:ext cx="131318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 err="1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36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36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1771818" y="2962000"/>
            <a:ext cx="696148" cy="2711038"/>
            <a:chOff x="1774965" y="2925018"/>
            <a:chExt cx="696148" cy="2711038"/>
          </a:xfrm>
        </p:grpSpPr>
        <p:sp>
          <p:nvSpPr>
            <p:cNvPr id="135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8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4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909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err="1" smtClean="0"/>
              <a:t>Paxos</a:t>
            </a:r>
            <a:r>
              <a:rPr lang="en-US" dirty="0" smtClean="0"/>
              <a:t>-style leader election with ranks</a:t>
            </a:r>
          </a:p>
        </p:txBody>
      </p:sp>
    </p:spTree>
    <p:extLst>
      <p:ext uri="{BB962C8B-B14F-4D97-AF65-F5344CB8AC3E}">
        <p14:creationId xmlns:p14="http://schemas.microsoft.com/office/powerpoint/2010/main" val="121053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8" grpId="0"/>
      <p:bldP spid="75" grpId="1"/>
      <p:bldP spid="14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Reconfigure PBFT - Contention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11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2959763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637149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314536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4991922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667817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2756847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43124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111618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478751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464899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283507" y="5734953"/>
            <a:ext cx="13309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Status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5734953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5734953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5734953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456381" y="2956778"/>
            <a:ext cx="1364506" cy="2035145"/>
            <a:chOff x="4456381" y="2717712"/>
            <a:chExt cx="1364506" cy="2035145"/>
          </a:xfrm>
        </p:grpSpPr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64" name="Line 4"/>
          <p:cNvSpPr>
            <a:spLocks noChangeShapeType="1"/>
          </p:cNvSpPr>
          <p:nvPr/>
        </p:nvSpPr>
        <p:spPr bwMode="auto">
          <a:xfrm>
            <a:off x="1766616" y="2362484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141239" y="2164293"/>
            <a:ext cx="159881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7030A0"/>
                </a:solidFill>
                <a:latin typeface="Lucida Sans Unicode" panose="020B0602030504020204" pitchFamily="34" charset="0"/>
              </a:rPr>
              <a:t>Leader B</a:t>
            </a:r>
            <a:endParaRPr lang="en-US" altLang="en-US" sz="1800" dirty="0">
              <a:solidFill>
                <a:srgbClr val="7030A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 rot="3570104">
            <a:off x="3009748" y="2483587"/>
            <a:ext cx="139384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4000" dirty="0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4000" dirty="0">
              <a:solidFill>
                <a:srgbClr val="7030A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 rot="16920230">
            <a:off x="3684646" y="3957522"/>
            <a:ext cx="112101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 smtClean="0">
                <a:solidFill>
                  <a:srgbClr val="C00000"/>
                </a:solidFill>
                <a:latin typeface="Gill Sans" charset="0"/>
                <a:ea typeface="Gill Sans" charset="0"/>
                <a:cs typeface="Gill Sans" charset="0"/>
              </a:rPr>
              <a:t>Yessir</a:t>
            </a:r>
            <a:r>
              <a:rPr lang="en-US" sz="2800" dirty="0" smtClean="0">
                <a:solidFill>
                  <a:srgbClr val="C00000"/>
                </a:solidFill>
                <a:latin typeface="Gill Sans" charset="0"/>
                <a:ea typeface="Gill Sans" charset="0"/>
                <a:cs typeface="Gill Sans" charset="0"/>
              </a:rPr>
              <a:t>!</a:t>
            </a:r>
            <a:endParaRPr lang="en-US" sz="2800" dirty="0">
              <a:solidFill>
                <a:srgbClr val="C0000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Line 27"/>
          <p:cNvSpPr>
            <a:spLocks noChangeShapeType="1"/>
          </p:cNvSpPr>
          <p:nvPr/>
        </p:nvSpPr>
        <p:spPr bwMode="auto">
          <a:xfrm>
            <a:off x="4471282" y="2364885"/>
            <a:ext cx="1000321" cy="440371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28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 rot="1343026">
            <a:off x="4292760" y="2105823"/>
            <a:ext cx="165622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Let me </a:t>
            </a:r>
            <a:r>
              <a:rPr lang="en-US" sz="2800" dirty="0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in!</a:t>
            </a:r>
            <a:endParaRPr lang="en-US" sz="2800" dirty="0">
              <a:solidFill>
                <a:srgbClr val="7030A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062569" y="2364884"/>
            <a:ext cx="691465" cy="3305172"/>
            <a:chOff x="3062570" y="2125818"/>
            <a:chExt cx="420388" cy="3305172"/>
          </a:xfrm>
        </p:grpSpPr>
        <p:sp>
          <p:nvSpPr>
            <p:cNvPr id="93" name="Line 27"/>
            <p:cNvSpPr>
              <a:spLocks noChangeShapeType="1"/>
            </p:cNvSpPr>
            <p:nvPr/>
          </p:nvSpPr>
          <p:spPr bwMode="auto">
            <a:xfrm>
              <a:off x="3074984" y="2129635"/>
              <a:ext cx="401924" cy="194881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4" name="Line 28"/>
            <p:cNvSpPr>
              <a:spLocks noChangeShapeType="1"/>
            </p:cNvSpPr>
            <p:nvPr/>
          </p:nvSpPr>
          <p:spPr bwMode="auto">
            <a:xfrm>
              <a:off x="3068276" y="2125818"/>
              <a:ext cx="414681" cy="262703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5" name="Line 29"/>
            <p:cNvSpPr>
              <a:spLocks noChangeShapeType="1"/>
            </p:cNvSpPr>
            <p:nvPr/>
          </p:nvSpPr>
          <p:spPr bwMode="auto">
            <a:xfrm>
              <a:off x="3068278" y="2125818"/>
              <a:ext cx="414679" cy="3305172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6" name="Line 27"/>
            <p:cNvSpPr>
              <a:spLocks noChangeShapeType="1"/>
            </p:cNvSpPr>
            <p:nvPr/>
          </p:nvSpPr>
          <p:spPr bwMode="auto">
            <a:xfrm>
              <a:off x="3062570" y="2125818"/>
              <a:ext cx="420388" cy="1267040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740646" y="2362484"/>
            <a:ext cx="644694" cy="3301349"/>
            <a:chOff x="3474981" y="2127401"/>
            <a:chExt cx="624071" cy="3301349"/>
          </a:xfrm>
        </p:grpSpPr>
        <p:sp>
          <p:nvSpPr>
            <p:cNvPr id="98" name="Line 27"/>
            <p:cNvSpPr>
              <a:spLocks noChangeShapeType="1"/>
            </p:cNvSpPr>
            <p:nvPr/>
          </p:nvSpPr>
          <p:spPr bwMode="auto">
            <a:xfrm flipV="1">
              <a:off x="3474981" y="2131127"/>
              <a:ext cx="624071" cy="1269939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9" name="Line 30"/>
            <p:cNvSpPr>
              <a:spLocks noChangeShapeType="1"/>
            </p:cNvSpPr>
            <p:nvPr/>
          </p:nvSpPr>
          <p:spPr bwMode="auto">
            <a:xfrm flipV="1">
              <a:off x="3474981" y="2130377"/>
              <a:ext cx="624071" cy="1945092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0" name="Line 33"/>
            <p:cNvSpPr>
              <a:spLocks noChangeShapeType="1"/>
            </p:cNvSpPr>
            <p:nvPr/>
          </p:nvSpPr>
          <p:spPr bwMode="auto">
            <a:xfrm flipV="1">
              <a:off x="3481915" y="2127401"/>
              <a:ext cx="617137" cy="2626945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1" name="Line 36"/>
            <p:cNvSpPr>
              <a:spLocks noChangeShapeType="1"/>
            </p:cNvSpPr>
            <p:nvPr/>
          </p:nvSpPr>
          <p:spPr bwMode="auto">
            <a:xfrm flipV="1">
              <a:off x="3488393" y="2128143"/>
              <a:ext cx="610659" cy="3300607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459020" y="2965353"/>
            <a:ext cx="649729" cy="2704331"/>
            <a:chOff x="2465944" y="2927251"/>
            <a:chExt cx="649729" cy="2704331"/>
          </a:xfrm>
        </p:grpSpPr>
        <p:sp>
          <p:nvSpPr>
            <p:cNvPr id="129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0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33" name="TextBox 132"/>
          <p:cNvSpPr txBox="1"/>
          <p:nvPr/>
        </p:nvSpPr>
        <p:spPr>
          <a:xfrm rot="4500000">
            <a:off x="1621825" y="4298470"/>
            <a:ext cx="78925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20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20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1771818" y="2962000"/>
            <a:ext cx="696148" cy="2711038"/>
            <a:chOff x="1774965" y="2925018"/>
            <a:chExt cx="696148" cy="2711038"/>
          </a:xfrm>
        </p:grpSpPr>
        <p:sp>
          <p:nvSpPr>
            <p:cNvPr id="135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8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4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909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err="1" smtClean="0"/>
              <a:t>PoW</a:t>
            </a:r>
            <a:r>
              <a:rPr lang="en-US" dirty="0" smtClean="0"/>
              <a:t> as rank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5820887" y="3637149"/>
            <a:ext cx="1352576" cy="2030668"/>
            <a:chOff x="5820887" y="3637149"/>
            <a:chExt cx="1352576" cy="2030668"/>
          </a:xfrm>
        </p:grpSpPr>
        <p:sp>
          <p:nvSpPr>
            <p:cNvPr id="105" name="Line 30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7" name="Line 32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8" name="Line 33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8685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2" grpId="0" animBg="1"/>
      <p:bldP spid="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Reconfigure PBFT - Contention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12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2959763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637149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314536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4991922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667817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2756847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43124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111618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478751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464899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622561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283507" y="5734953"/>
            <a:ext cx="13309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Status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5734953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5734953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5734953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456381" y="2956778"/>
            <a:ext cx="1364506" cy="2035145"/>
            <a:chOff x="4456381" y="2717712"/>
            <a:chExt cx="1364506" cy="2035145"/>
          </a:xfrm>
        </p:grpSpPr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64" name="Line 4"/>
          <p:cNvSpPr>
            <a:spLocks noChangeShapeType="1"/>
          </p:cNvSpPr>
          <p:nvPr/>
        </p:nvSpPr>
        <p:spPr bwMode="auto">
          <a:xfrm>
            <a:off x="1766616" y="2362484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141239" y="2164293"/>
            <a:ext cx="159881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7030A0"/>
                </a:solidFill>
                <a:latin typeface="Lucida Sans Unicode" panose="020B0602030504020204" pitchFamily="34" charset="0"/>
              </a:rPr>
              <a:t>Leader B</a:t>
            </a:r>
            <a:endParaRPr lang="en-US" altLang="en-US" sz="1800" dirty="0">
              <a:solidFill>
                <a:srgbClr val="7030A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 rot="16920230">
            <a:off x="3038663" y="4076199"/>
            <a:ext cx="236199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C00000"/>
                </a:solidFill>
                <a:latin typeface="Gill Sans" charset="0"/>
                <a:ea typeface="Gill Sans" charset="0"/>
                <a:cs typeface="Gill Sans" charset="0"/>
              </a:rPr>
              <a:t>Help  A finish!</a:t>
            </a:r>
            <a:endParaRPr lang="en-US" sz="2800" dirty="0">
              <a:solidFill>
                <a:srgbClr val="C0000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Line 27"/>
          <p:cNvSpPr>
            <a:spLocks noChangeShapeType="1"/>
          </p:cNvSpPr>
          <p:nvPr/>
        </p:nvSpPr>
        <p:spPr bwMode="auto">
          <a:xfrm>
            <a:off x="4471282" y="2364885"/>
            <a:ext cx="1000321" cy="440371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28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 rot="1459166">
            <a:off x="4362221" y="2095988"/>
            <a:ext cx="150970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Let  A in!</a:t>
            </a:r>
            <a:endParaRPr lang="en-US" sz="2800" dirty="0">
              <a:solidFill>
                <a:srgbClr val="7030A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062569" y="2364884"/>
            <a:ext cx="691465" cy="3305172"/>
            <a:chOff x="3062570" y="2125818"/>
            <a:chExt cx="420388" cy="3305172"/>
          </a:xfrm>
        </p:grpSpPr>
        <p:sp>
          <p:nvSpPr>
            <p:cNvPr id="93" name="Line 27"/>
            <p:cNvSpPr>
              <a:spLocks noChangeShapeType="1"/>
            </p:cNvSpPr>
            <p:nvPr/>
          </p:nvSpPr>
          <p:spPr bwMode="auto">
            <a:xfrm>
              <a:off x="3074984" y="2129635"/>
              <a:ext cx="401924" cy="194881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4" name="Line 28"/>
            <p:cNvSpPr>
              <a:spLocks noChangeShapeType="1"/>
            </p:cNvSpPr>
            <p:nvPr/>
          </p:nvSpPr>
          <p:spPr bwMode="auto">
            <a:xfrm>
              <a:off x="3068276" y="2125818"/>
              <a:ext cx="414681" cy="2627038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5" name="Line 29"/>
            <p:cNvSpPr>
              <a:spLocks noChangeShapeType="1"/>
            </p:cNvSpPr>
            <p:nvPr/>
          </p:nvSpPr>
          <p:spPr bwMode="auto">
            <a:xfrm>
              <a:off x="3068278" y="2125818"/>
              <a:ext cx="414679" cy="3305172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6" name="Line 27"/>
            <p:cNvSpPr>
              <a:spLocks noChangeShapeType="1"/>
            </p:cNvSpPr>
            <p:nvPr/>
          </p:nvSpPr>
          <p:spPr bwMode="auto">
            <a:xfrm>
              <a:off x="3062570" y="2125818"/>
              <a:ext cx="420388" cy="1267040"/>
            </a:xfrm>
            <a:prstGeom prst="line">
              <a:avLst/>
            </a:prstGeom>
            <a:noFill/>
            <a:ln w="15875">
              <a:solidFill>
                <a:srgbClr val="7030A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740646" y="2362484"/>
            <a:ext cx="644694" cy="3301349"/>
            <a:chOff x="3474981" y="2127401"/>
            <a:chExt cx="624071" cy="3301349"/>
          </a:xfrm>
        </p:grpSpPr>
        <p:sp>
          <p:nvSpPr>
            <p:cNvPr id="98" name="Line 27"/>
            <p:cNvSpPr>
              <a:spLocks noChangeShapeType="1"/>
            </p:cNvSpPr>
            <p:nvPr/>
          </p:nvSpPr>
          <p:spPr bwMode="auto">
            <a:xfrm flipV="1">
              <a:off x="3474981" y="2131127"/>
              <a:ext cx="624071" cy="1269939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99" name="Line 30"/>
            <p:cNvSpPr>
              <a:spLocks noChangeShapeType="1"/>
            </p:cNvSpPr>
            <p:nvPr/>
          </p:nvSpPr>
          <p:spPr bwMode="auto">
            <a:xfrm flipV="1">
              <a:off x="3474981" y="2130377"/>
              <a:ext cx="624071" cy="1945092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0" name="Line 33"/>
            <p:cNvSpPr>
              <a:spLocks noChangeShapeType="1"/>
            </p:cNvSpPr>
            <p:nvPr/>
          </p:nvSpPr>
          <p:spPr bwMode="auto">
            <a:xfrm flipV="1">
              <a:off x="3481915" y="2127401"/>
              <a:ext cx="617137" cy="2626945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01" name="Line 36"/>
            <p:cNvSpPr>
              <a:spLocks noChangeShapeType="1"/>
            </p:cNvSpPr>
            <p:nvPr/>
          </p:nvSpPr>
          <p:spPr bwMode="auto">
            <a:xfrm flipV="1">
              <a:off x="3488393" y="2128143"/>
              <a:ext cx="610659" cy="3300607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459020" y="2965353"/>
            <a:ext cx="649729" cy="2704331"/>
            <a:chOff x="2465944" y="2927251"/>
            <a:chExt cx="649729" cy="2704331"/>
          </a:xfrm>
        </p:grpSpPr>
        <p:sp>
          <p:nvSpPr>
            <p:cNvPr id="129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0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33" name="TextBox 132"/>
          <p:cNvSpPr txBox="1"/>
          <p:nvPr/>
        </p:nvSpPr>
        <p:spPr>
          <a:xfrm rot="4500000">
            <a:off x="1621825" y="4298470"/>
            <a:ext cx="78925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20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20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1771818" y="2962000"/>
            <a:ext cx="696148" cy="2711038"/>
            <a:chOff x="1774965" y="2925018"/>
            <a:chExt cx="696148" cy="2711038"/>
          </a:xfrm>
        </p:grpSpPr>
        <p:sp>
          <p:nvSpPr>
            <p:cNvPr id="135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8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7173464" y="3637149"/>
            <a:ext cx="1352576" cy="1354774"/>
            <a:chOff x="7173464" y="3637149"/>
            <a:chExt cx="1352576" cy="1354774"/>
          </a:xfrm>
        </p:grpSpPr>
        <p:sp>
          <p:nvSpPr>
            <p:cNvPr id="60" name="Line 39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1" name="Line 40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3" name="Line 42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5" name="Line 43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817155" y="3637149"/>
            <a:ext cx="1361529" cy="2030667"/>
            <a:chOff x="5817155" y="3637149"/>
            <a:chExt cx="1361529" cy="2030667"/>
          </a:xfrm>
        </p:grpSpPr>
        <p:sp>
          <p:nvSpPr>
            <p:cNvPr id="76" name="Line 30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7" name="Line 31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1" name="Line 34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4" name="Line 35"/>
            <p:cNvSpPr>
              <a:spLocks noChangeShapeType="1"/>
            </p:cNvSpPr>
            <p:nvPr/>
          </p:nvSpPr>
          <p:spPr bwMode="auto">
            <a:xfrm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8" name="Line 27"/>
            <p:cNvSpPr>
              <a:spLocks noChangeShapeType="1"/>
            </p:cNvSpPr>
            <p:nvPr/>
          </p:nvSpPr>
          <p:spPr bwMode="auto">
            <a:xfrm>
              <a:off x="5817155" y="3649450"/>
              <a:ext cx="1361529" cy="678879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7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909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err="1" smtClean="0"/>
              <a:t>PoW</a:t>
            </a:r>
            <a:r>
              <a:rPr lang="en-US" dirty="0" smtClean="0"/>
              <a:t> as rank</a:t>
            </a:r>
          </a:p>
        </p:txBody>
      </p:sp>
      <p:sp>
        <p:nvSpPr>
          <p:cNvPr id="71" name="TextBox 70"/>
          <p:cNvSpPr txBox="1"/>
          <p:nvPr/>
        </p:nvSpPr>
        <p:spPr>
          <a:xfrm rot="3570104">
            <a:off x="3009748" y="2483587"/>
            <a:ext cx="139384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4000" dirty="0" smtClean="0">
                <a:solidFill>
                  <a:srgbClr val="7030A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4000" dirty="0">
              <a:solidFill>
                <a:srgbClr val="7030A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28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2" grpId="0" animBg="1"/>
      <p:bldP spid="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Problem with </a:t>
            </a:r>
            <a:r>
              <a:rPr lang="en-US" sz="4000" dirty="0" err="1" smtClean="0"/>
              <a:t>PoW</a:t>
            </a:r>
            <a:r>
              <a:rPr lang="en-US" sz="4000" dirty="0" smtClean="0"/>
              <a:t> Ranks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13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3254097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931483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608870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5286256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962151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3051181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725581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405952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508184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75923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91689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91689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91689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91689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363657" y="6029287"/>
            <a:ext cx="117066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Elect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6029287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6029287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6029287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128" name="Group 127"/>
          <p:cNvGrpSpPr/>
          <p:nvPr/>
        </p:nvGrpSpPr>
        <p:grpSpPr>
          <a:xfrm>
            <a:off x="3817643" y="3259687"/>
            <a:ext cx="649729" cy="2704331"/>
            <a:chOff x="2465944" y="2927251"/>
            <a:chExt cx="649729" cy="2704331"/>
          </a:xfrm>
        </p:grpSpPr>
        <p:sp>
          <p:nvSpPr>
            <p:cNvPr id="129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0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33" name="TextBox 132"/>
          <p:cNvSpPr txBox="1"/>
          <p:nvPr/>
        </p:nvSpPr>
        <p:spPr>
          <a:xfrm rot="4500000">
            <a:off x="2112374" y="4369048"/>
            <a:ext cx="1877438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5400" dirty="0" err="1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54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54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3130441" y="3256334"/>
            <a:ext cx="696148" cy="2711038"/>
            <a:chOff x="1774965" y="2925018"/>
            <a:chExt cx="696148" cy="2711038"/>
          </a:xfrm>
        </p:grpSpPr>
        <p:sp>
          <p:nvSpPr>
            <p:cNvPr id="135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8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7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3662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smtClean="0"/>
              <a:t>A Byzantine leader can stall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456381" y="3251112"/>
            <a:ext cx="1364506" cy="2711039"/>
            <a:chOff x="4456381" y="2717712"/>
            <a:chExt cx="1364506" cy="2711039"/>
          </a:xfrm>
        </p:grpSpPr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3" name="Line 29"/>
            <p:cNvSpPr>
              <a:spLocks noChangeShapeType="1"/>
            </p:cNvSpPr>
            <p:nvPr/>
          </p:nvSpPr>
          <p:spPr bwMode="auto">
            <a:xfrm>
              <a:off x="4463305" y="2717712"/>
              <a:ext cx="1357582" cy="271103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5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702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Fix with Epochs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14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3248877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926263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5" y="4603650"/>
            <a:ext cx="79311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5281036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956931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3045961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720361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400732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507662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75401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286000" y="6029287"/>
            <a:ext cx="117066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Elect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6024067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6024067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6024067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 rot="4500000">
            <a:off x="2894270" y="4835135"/>
            <a:ext cx="981359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rank</a:t>
            </a:r>
            <a:endParaRPr lang="en-US" sz="32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12105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smtClean="0"/>
              <a:t>rank = (lifespan, </a:t>
            </a:r>
            <a:r>
              <a:rPr lang="en-US" dirty="0" err="1" smtClean="0"/>
              <a:t>PoW</a:t>
            </a:r>
            <a:r>
              <a:rPr lang="en-US" dirty="0" smtClean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Lifespan = # of </a:t>
            </a:r>
            <a:r>
              <a:rPr lang="en-US" dirty="0" err="1" smtClean="0"/>
              <a:t>PoWs</a:t>
            </a:r>
            <a:r>
              <a:rPr lang="en-US" dirty="0" smtClean="0"/>
              <a:t> seen so far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456381" y="3245892"/>
            <a:ext cx="1364506" cy="2711039"/>
            <a:chOff x="4456381" y="2717712"/>
            <a:chExt cx="1364506" cy="2711039"/>
          </a:xfrm>
        </p:grpSpPr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3" name="Line 29"/>
            <p:cNvSpPr>
              <a:spLocks noChangeShapeType="1"/>
            </p:cNvSpPr>
            <p:nvPr/>
          </p:nvSpPr>
          <p:spPr bwMode="auto">
            <a:xfrm>
              <a:off x="4463305" y="2717712"/>
              <a:ext cx="1357582" cy="271103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5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7173464" y="3912190"/>
            <a:ext cx="1352576" cy="2030668"/>
            <a:chOff x="7173464" y="3637149"/>
            <a:chExt cx="1352576" cy="2030668"/>
          </a:xfrm>
        </p:grpSpPr>
        <p:sp>
          <p:nvSpPr>
            <p:cNvPr id="52" name="Line 39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3" name="Line 40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4" name="Line 41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5" name="Line 42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6" name="Line 43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7" name="Line 44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45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9" name="Line 46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0" name="Line 47"/>
            <p:cNvSpPr>
              <a:spLocks noChangeShapeType="1"/>
            </p:cNvSpPr>
            <p:nvPr/>
          </p:nvSpPr>
          <p:spPr bwMode="auto">
            <a:xfrm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2" name="Line 49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3" name="Line 50"/>
            <p:cNvSpPr>
              <a:spLocks noChangeShapeType="1"/>
            </p:cNvSpPr>
            <p:nvPr/>
          </p:nvSpPr>
          <p:spPr bwMode="auto">
            <a:xfrm flipV="1"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817154" y="3912190"/>
            <a:ext cx="1361530" cy="2031410"/>
            <a:chOff x="5817154" y="3637149"/>
            <a:chExt cx="1361530" cy="2031410"/>
          </a:xfrm>
        </p:grpSpPr>
        <p:sp>
          <p:nvSpPr>
            <p:cNvPr id="65" name="Line 30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8" name="Line 32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1" name="Line 33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 flipV="1"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0" name="Line 27"/>
            <p:cNvSpPr>
              <a:spLocks noChangeShapeType="1"/>
            </p:cNvSpPr>
            <p:nvPr/>
          </p:nvSpPr>
          <p:spPr bwMode="auto">
            <a:xfrm>
              <a:off x="5817155" y="3649450"/>
              <a:ext cx="1361529" cy="678879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5817154" y="3640134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5817917" y="3637892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3817643" y="3259687"/>
            <a:ext cx="649729" cy="2704331"/>
            <a:chOff x="2465944" y="2927251"/>
            <a:chExt cx="649729" cy="2704331"/>
          </a:xfrm>
        </p:grpSpPr>
        <p:sp>
          <p:nvSpPr>
            <p:cNvPr id="84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5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6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7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3130441" y="3256334"/>
            <a:ext cx="696148" cy="2711038"/>
            <a:chOff x="1774965" y="2925018"/>
            <a:chExt cx="696148" cy="2711038"/>
          </a:xfrm>
        </p:grpSpPr>
        <p:sp>
          <p:nvSpPr>
            <p:cNvPr id="89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90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91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92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65011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Fix with Epochs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EA6D8CF-3CDE-4807-BCD2-C9F2B831AAA5}" type="slidenum">
              <a:rPr lang="en-US" smtClean="0"/>
              <a:t>15</a:t>
            </a:fld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66616" y="3248877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766616" y="3926263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200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766616" y="4603650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766616" y="5281036"/>
            <a:ext cx="6764372" cy="14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766616" y="5956931"/>
            <a:ext cx="67643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8912" y="3045961"/>
            <a:ext cx="168537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dirty="0" smtClean="0">
                <a:solidFill>
                  <a:srgbClr val="0070C0"/>
                </a:solidFill>
                <a:latin typeface="Lucida Sans Unicode" panose="020B0602030504020204" pitchFamily="34" charset="0"/>
              </a:rPr>
              <a:t>Leader A</a:t>
            </a:r>
            <a:endParaRPr lang="en-US" altLang="en-US" sz="1800" dirty="0">
              <a:solidFill>
                <a:srgbClr val="0070C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3720361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1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0" y="4400732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2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5076627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3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0" y="5754013"/>
            <a:ext cx="17735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Member 4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468311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820887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173464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8526040" y="2911675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3006667" y="6029287"/>
            <a:ext cx="117066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Elect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170545" y="6024067"/>
            <a:ext cx="153950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Propose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560045" y="6024067"/>
            <a:ext cx="140004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Accept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867141" y="6024067"/>
            <a:ext cx="152828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>
                <a:latin typeface="Lucida Sans Unicode" panose="020B0602030504020204" pitchFamily="34" charset="0"/>
              </a:rPr>
              <a:t>Commit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128" name="Group 127"/>
          <p:cNvGrpSpPr/>
          <p:nvPr/>
        </p:nvGrpSpPr>
        <p:grpSpPr>
          <a:xfrm>
            <a:off x="3817643" y="3254467"/>
            <a:ext cx="649729" cy="2704331"/>
            <a:chOff x="2465944" y="2927251"/>
            <a:chExt cx="649729" cy="2704331"/>
          </a:xfrm>
        </p:grpSpPr>
        <p:sp>
          <p:nvSpPr>
            <p:cNvPr id="129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0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1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33" name="TextBox 132"/>
          <p:cNvSpPr txBox="1"/>
          <p:nvPr/>
        </p:nvSpPr>
        <p:spPr>
          <a:xfrm rot="4500000">
            <a:off x="2894270" y="4835135"/>
            <a:ext cx="981359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0070C0"/>
                </a:solidFill>
                <a:latin typeface="Gill Sans" charset="0"/>
                <a:ea typeface="Gill Sans" charset="0"/>
                <a:cs typeface="Gill Sans" charset="0"/>
              </a:rPr>
              <a:t>rank</a:t>
            </a:r>
            <a:endParaRPr lang="en-US" sz="3200" dirty="0">
              <a:solidFill>
                <a:srgbClr val="0070C0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3130441" y="3251114"/>
            <a:ext cx="696148" cy="2711038"/>
            <a:chOff x="1774965" y="2925018"/>
            <a:chExt cx="696148" cy="2711038"/>
          </a:xfrm>
        </p:grpSpPr>
        <p:sp>
          <p:nvSpPr>
            <p:cNvPr id="135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6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138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70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183024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 smtClean="0"/>
              <a:t>rank = (epoch, </a:t>
            </a:r>
            <a:r>
              <a:rPr lang="en-US" dirty="0" err="1" smtClean="0"/>
              <a:t>PoW</a:t>
            </a:r>
            <a:r>
              <a:rPr lang="en-US" dirty="0" smtClean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Each member maintains a local epoch</a:t>
            </a:r>
          </a:p>
          <a:p>
            <a:pPr lvl="1">
              <a:lnSpc>
                <a:spcPct val="120000"/>
              </a:lnSpc>
            </a:pPr>
            <a:r>
              <a:rPr lang="en-US" dirty="0" err="1" smtClean="0"/>
              <a:t>rank.epoch</a:t>
            </a:r>
            <a:r>
              <a:rPr lang="en-US" dirty="0" smtClean="0"/>
              <a:t> = median among 2f+1 replies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456381" y="3245892"/>
            <a:ext cx="1364506" cy="2711039"/>
            <a:chOff x="4456381" y="2717712"/>
            <a:chExt cx="1364506" cy="2711039"/>
          </a:xfrm>
        </p:grpSpPr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4464793" y="2717713"/>
              <a:ext cx="1356093" cy="135775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4456381" y="2717712"/>
              <a:ext cx="1364506" cy="2035145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3" name="Line 29"/>
            <p:cNvSpPr>
              <a:spLocks noChangeShapeType="1"/>
            </p:cNvSpPr>
            <p:nvPr/>
          </p:nvSpPr>
          <p:spPr bwMode="auto">
            <a:xfrm>
              <a:off x="4463305" y="2717712"/>
              <a:ext cx="1357582" cy="271103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5" name="Line 27"/>
            <p:cNvSpPr>
              <a:spLocks noChangeShapeType="1"/>
            </p:cNvSpPr>
            <p:nvPr/>
          </p:nvSpPr>
          <p:spPr bwMode="auto">
            <a:xfrm>
              <a:off x="4457869" y="2717712"/>
              <a:ext cx="1361529" cy="678879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280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3130441" y="2756302"/>
            <a:ext cx="0" cy="3316807"/>
          </a:xfrm>
          <a:prstGeom prst="line">
            <a:avLst/>
          </a:prstGeom>
          <a:noFill/>
          <a:ln w="9525">
            <a:solidFill>
              <a:srgbClr val="635E5D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 anchorCtr="0">
            <a:spAutoFit/>
          </a:bodyPr>
          <a:lstStyle/>
          <a:p>
            <a:endParaRPr lang="en-US" sz="1600"/>
          </a:p>
        </p:txBody>
      </p:sp>
      <p:sp>
        <p:nvSpPr>
          <p:cNvPr id="40" name="Text Box 18"/>
          <p:cNvSpPr txBox="1">
            <a:spLocks noChangeArrowheads="1"/>
          </p:cNvSpPr>
          <p:nvPr/>
        </p:nvSpPr>
        <p:spPr bwMode="auto">
          <a:xfrm>
            <a:off x="1288292" y="6029287"/>
            <a:ext cx="183590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1440" bIns="46800" anchor="ctr" anchorCtr="0">
            <a:spAutoFit/>
          </a:bodyPr>
          <a:lstStyle>
            <a:lvl1pPr marL="741363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AU" altLang="en-US" sz="1800" b="0" dirty="0" smtClean="0">
                <a:latin typeface="Lucida Sans Unicode" panose="020B0602030504020204" pitchFamily="34" charset="0"/>
              </a:rPr>
              <a:t>Get-epoch</a:t>
            </a:r>
            <a:endParaRPr lang="en-US" altLang="en-US" sz="1800" b="0" dirty="0">
              <a:latin typeface="Lucida Sans Unicode" panose="020B0602030504020204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474471" y="3253804"/>
            <a:ext cx="649729" cy="2704331"/>
            <a:chOff x="2465944" y="2927251"/>
            <a:chExt cx="649729" cy="2704331"/>
          </a:xfrm>
        </p:grpSpPr>
        <p:sp>
          <p:nvSpPr>
            <p:cNvPr id="42" name="Line 27"/>
            <p:cNvSpPr>
              <a:spLocks noChangeShapeType="1"/>
            </p:cNvSpPr>
            <p:nvPr/>
          </p:nvSpPr>
          <p:spPr bwMode="auto">
            <a:xfrm flipV="1">
              <a:off x="2471111" y="2933965"/>
              <a:ext cx="644562" cy="66545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 flipV="1">
              <a:off x="2465944" y="2927251"/>
              <a:ext cx="649729" cy="135776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V="1">
              <a:off x="2469622" y="2927253"/>
              <a:ext cx="646051" cy="202843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auto">
            <a:xfrm flipV="1">
              <a:off x="2471110" y="2927252"/>
              <a:ext cx="644563" cy="2704330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solid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787269" y="3250451"/>
            <a:ext cx="696148" cy="2711038"/>
            <a:chOff x="1774965" y="2925018"/>
            <a:chExt cx="696148" cy="2711038"/>
          </a:xfrm>
        </p:grpSpPr>
        <p:sp>
          <p:nvSpPr>
            <p:cNvPr id="47" name="Line 27"/>
            <p:cNvSpPr>
              <a:spLocks noChangeShapeType="1"/>
            </p:cNvSpPr>
            <p:nvPr/>
          </p:nvSpPr>
          <p:spPr bwMode="auto">
            <a:xfrm>
              <a:off x="1777217" y="2925018"/>
              <a:ext cx="693896" cy="136074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>
              <a:off x="1776494" y="2927248"/>
              <a:ext cx="694618" cy="2029932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1775728" y="2925018"/>
              <a:ext cx="695384" cy="2711038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>
                <a:solidFill>
                  <a:srgbClr val="0070C0"/>
                </a:solidFill>
              </a:endParaRPr>
            </a:p>
          </p:txBody>
        </p:sp>
        <p:sp>
          <p:nvSpPr>
            <p:cNvPr id="50" name="Line 27"/>
            <p:cNvSpPr>
              <a:spLocks noChangeShapeType="1"/>
            </p:cNvSpPr>
            <p:nvPr/>
          </p:nvSpPr>
          <p:spPr bwMode="auto">
            <a:xfrm>
              <a:off x="1774965" y="2927249"/>
              <a:ext cx="696148" cy="684103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7173464" y="3912190"/>
            <a:ext cx="1352576" cy="2030668"/>
            <a:chOff x="7173464" y="3637149"/>
            <a:chExt cx="1352576" cy="2030668"/>
          </a:xfrm>
        </p:grpSpPr>
        <p:sp>
          <p:nvSpPr>
            <p:cNvPr id="52" name="Line 39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3" name="Line 40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4" name="Line 41"/>
            <p:cNvSpPr>
              <a:spLocks noChangeShapeType="1"/>
            </p:cNvSpPr>
            <p:nvPr/>
          </p:nvSpPr>
          <p:spPr bwMode="auto">
            <a:xfrm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5" name="Line 42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6" name="Line 43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7" name="Line 44"/>
            <p:cNvSpPr>
              <a:spLocks noChangeShapeType="1"/>
            </p:cNvSpPr>
            <p:nvPr/>
          </p:nvSpPr>
          <p:spPr bwMode="auto">
            <a:xfrm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8" name="Line 45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59" name="Line 46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0" name="Line 47"/>
            <p:cNvSpPr>
              <a:spLocks noChangeShapeType="1"/>
            </p:cNvSpPr>
            <p:nvPr/>
          </p:nvSpPr>
          <p:spPr bwMode="auto">
            <a:xfrm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 flipV="1">
              <a:off x="7173464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2" name="Line 49"/>
            <p:cNvSpPr>
              <a:spLocks noChangeShapeType="1"/>
            </p:cNvSpPr>
            <p:nvPr/>
          </p:nvSpPr>
          <p:spPr bwMode="auto">
            <a:xfrm flipV="1">
              <a:off x="7173464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3" name="Line 50"/>
            <p:cNvSpPr>
              <a:spLocks noChangeShapeType="1"/>
            </p:cNvSpPr>
            <p:nvPr/>
          </p:nvSpPr>
          <p:spPr bwMode="auto">
            <a:xfrm flipV="1">
              <a:off x="7173464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817154" y="3912190"/>
            <a:ext cx="1361530" cy="2031410"/>
            <a:chOff x="5817154" y="3637149"/>
            <a:chExt cx="1361530" cy="2031410"/>
          </a:xfrm>
        </p:grpSpPr>
        <p:sp>
          <p:nvSpPr>
            <p:cNvPr id="65" name="Line 30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68" name="Line 32"/>
            <p:cNvSpPr>
              <a:spLocks noChangeShapeType="1"/>
            </p:cNvSpPr>
            <p:nvPr/>
          </p:nvSpPr>
          <p:spPr bwMode="auto">
            <a:xfrm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1" name="Line 33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67738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 flipV="1">
              <a:off x="5820887" y="3637149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 flipV="1">
              <a:off x="5820887" y="4314536"/>
              <a:ext cx="1352576" cy="1353281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 flipV="1">
              <a:off x="5820887" y="4991922"/>
              <a:ext cx="1352576" cy="675894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0" name="Line 27"/>
            <p:cNvSpPr>
              <a:spLocks noChangeShapeType="1"/>
            </p:cNvSpPr>
            <p:nvPr/>
          </p:nvSpPr>
          <p:spPr bwMode="auto">
            <a:xfrm>
              <a:off x="5817155" y="3649450"/>
              <a:ext cx="1361529" cy="678879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5817154" y="3640134"/>
              <a:ext cx="1352576" cy="1354773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5817917" y="3637892"/>
              <a:ext cx="1352576" cy="2030667"/>
            </a:xfrm>
            <a:prstGeom prst="line">
              <a:avLst/>
            </a:prstGeom>
            <a:noFill/>
            <a:ln w="15875">
              <a:solidFill>
                <a:srgbClr val="B91003"/>
              </a:solidFill>
              <a:prstDash val="dash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0" y="2247"/>
            <a:ext cx="9144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Safety follows from PBFT</a:t>
            </a:r>
            <a:endParaRPr lang="en-US" sz="4400" dirty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endParaRPr lang="en-US" sz="4400" dirty="0" smtClean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Proof-of-Work gives </a:t>
            </a:r>
            <a:r>
              <a:rPr lang="en-US" altLang="zh-CN" sz="4400" dirty="0" err="1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4400" dirty="0" err="1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ybil</a:t>
            </a:r>
            <a:r>
              <a:rPr lang="en-US" altLang="zh-CN" sz="44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-</a:t>
            </a:r>
            <a:r>
              <a:rPr lang="en-US" sz="44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proof</a:t>
            </a:r>
          </a:p>
          <a:p>
            <a:pPr>
              <a:lnSpc>
                <a:spcPct val="150000"/>
              </a:lnSpc>
            </a:pP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   and eventually unique leader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0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endParaRPr lang="en-US" sz="4000" dirty="0" smtClean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Lifespan prevents stalling</a:t>
            </a:r>
            <a:endParaRPr lang="en-US" sz="4400" dirty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0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Sketch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6"/>
            <a:ext cx="8229600" cy="5652830"/>
          </a:xfrm>
        </p:spPr>
        <p:txBody>
          <a:bodyPr/>
          <a:lstStyle/>
          <a:p>
            <a:r>
              <a:rPr lang="en-US" dirty="0" smtClean="0"/>
              <a:t>Goal: Adversary cannot get 1/3 seats</a:t>
            </a:r>
          </a:p>
          <a:p>
            <a:r>
              <a:rPr lang="en-US" dirty="0"/>
              <a:t>Sketch: Message delay for honest users </a:t>
            </a:r>
            <a:r>
              <a:rPr lang="en-US" dirty="0">
                <a:sym typeface="Wingdings" panose="05000000000000000000" pitchFamily="2" charset="2"/>
              </a:rPr>
              <a:t> extra time to work on </a:t>
            </a:r>
            <a:r>
              <a:rPr lang="en-US" dirty="0" err="1">
                <a:sym typeface="Wingdings" panose="05000000000000000000" pitchFamily="2" charset="2"/>
              </a:rPr>
              <a:t>PoW</a:t>
            </a:r>
            <a:r>
              <a:rPr lang="en-US" dirty="0">
                <a:sym typeface="Wingdings" panose="05000000000000000000" pitchFamily="2" charset="2"/>
              </a:rPr>
              <a:t> for adversaries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ynchrony? Seriously? </a:t>
            </a:r>
          </a:p>
          <a:p>
            <a:pPr lvl="1"/>
            <a:r>
              <a:rPr lang="en-US" dirty="0" smtClean="0"/>
              <a:t>Necessary for Bitcoin/</a:t>
            </a:r>
            <a:r>
              <a:rPr lang="en-US" dirty="0" err="1" smtClean="0"/>
              <a:t>PoW</a:t>
            </a:r>
            <a:r>
              <a:rPr lang="en-US" dirty="0" smtClean="0"/>
              <a:t> [PSS’16]</a:t>
            </a:r>
          </a:p>
          <a:p>
            <a:r>
              <a:rPr lang="en-US" dirty="0" smtClean="0"/>
              <a:t>Why PBFT if the model is synchronous?</a:t>
            </a:r>
          </a:p>
          <a:p>
            <a:pPr lvl="1"/>
            <a:r>
              <a:rPr lang="en-US" dirty="0" smtClean="0"/>
              <a:t>Actual speed vs. ½ fault tolerance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057"/>
          <a:stretch/>
        </p:blipFill>
        <p:spPr>
          <a:xfrm>
            <a:off x="304800" y="152400"/>
            <a:ext cx="8539121" cy="2514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590799"/>
            <a:ext cx="5641448" cy="41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4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247"/>
            <a:ext cx="9144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Summary</a:t>
            </a:r>
          </a:p>
          <a:p>
            <a:pPr algn="ctr">
              <a:lnSpc>
                <a:spcPct val="150000"/>
              </a:lnSpc>
            </a:pPr>
            <a:endParaRPr lang="en-US" sz="4800" dirty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Bitcoin: </a:t>
            </a:r>
            <a:r>
              <a:rPr lang="en-US" sz="44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 a </a:t>
            </a:r>
            <a:r>
              <a:rPr lang="en-US" sz="44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PoW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 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chain 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	 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   </a:t>
            </a:r>
            <a:r>
              <a:rPr lang="en-US" sz="44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permissionless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 consensus</a:t>
            </a:r>
            <a:endParaRPr lang="en-US" sz="4400" dirty="0" smtClean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	</a:t>
            </a:r>
            <a:r>
              <a:rPr lang="en-US" sz="44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Solida</a:t>
            </a:r>
            <a:r>
              <a:rPr lang="en-US" sz="44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:</a:t>
            </a:r>
            <a:r>
              <a:rPr lang="en-US" sz="40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40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PoW</a:t>
            </a:r>
            <a:r>
              <a:rPr lang="en-US" sz="4000" dirty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endParaRPr lang="en-US" sz="4000" dirty="0" smtClean="0">
              <a:solidFill>
                <a:schemeClr val="bg1"/>
              </a:solidFill>
              <a:latin typeface="Gill Sans" charset="0"/>
              <a:ea typeface="Gill Sans" charset="0"/>
              <a:cs typeface="Gill Sans" charset="0"/>
            </a:endParaRPr>
          </a:p>
          <a:p>
            <a:pPr>
              <a:lnSpc>
                <a:spcPct val="150000"/>
              </a:lnSpc>
            </a:pPr>
            <a:r>
              <a:rPr lang="en-US" sz="40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	    </a:t>
            </a:r>
            <a:r>
              <a:rPr lang="en-US" sz="4000" dirty="0" err="1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permissionless</a:t>
            </a:r>
            <a:r>
              <a:rPr lang="en-US" sz="4000" dirty="0" smtClean="0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  <a:sym typeface="Wingdings" panose="05000000000000000000" pitchFamily="2" charset="2"/>
              </a:rPr>
              <a:t> consensus</a:t>
            </a:r>
          </a:p>
        </p:txBody>
      </p:sp>
    </p:spTree>
    <p:extLst>
      <p:ext uri="{BB962C8B-B14F-4D97-AF65-F5344CB8AC3E}">
        <p14:creationId xmlns:p14="http://schemas.microsoft.com/office/powerpoint/2010/main" val="359469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6800"/>
            <a:ext cx="9144000" cy="449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Solidus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>
                <a:sym typeface="Wingdings" panose="05000000000000000000" pitchFamily="2" charset="2"/>
              </a:rPr>
              <a:t>Solida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6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VMware_white_4x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2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smtClean="0"/>
        </a:defPPr>
      </a:lstStyle>
    </a:txDef>
  </a:objectDefaults>
  <a:extraClrSchemeLst/>
  <a:custClrLst>
    <a:custClr name="PMS130">
      <a:srgbClr val="FDB813"/>
    </a:custClr>
    <a:custClr name="PMS144">
      <a:srgbClr val="F8981D"/>
    </a:custClr>
    <a:custClr name="PMS180">
      <a:srgbClr val="D9541E"/>
    </a:custClr>
    <a:custClr name="PMS1807">
      <a:srgbClr val="9E3039"/>
    </a:custClr>
    <a:custClr name="PMS195">
      <a:srgbClr val="820024"/>
    </a:custClr>
    <a:custClr name="PMS174">
      <a:srgbClr val="9A3B26"/>
    </a:custClr>
    <a:custClr name="PMS7519">
      <a:srgbClr val="574319"/>
    </a:custClr>
    <a:custClr name="PMS654">
      <a:srgbClr val="003D79"/>
    </a:custClr>
  </a:custClrLst>
  <a:extLst>
    <a:ext uri="{05A4C25C-085E-4340-85A3-A5531E510DB2}">
      <thm15:themeFamily xmlns:thm15="http://schemas.microsoft.com/office/thememl/2012/main" name="Presentation1" id="{88D46E8B-9D22-47CC-A76A-2103E5788FF0}" vid="{D59F6E75-2E79-4649-B6A1-C601ED1433B2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841</Words>
  <Application>Microsoft Office PowerPoint</Application>
  <PresentationFormat>On-screen Show (4:3)</PresentationFormat>
  <Paragraphs>285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Gill Sans</vt:lpstr>
      <vt:lpstr>ＭＳ Ｐゴシック</vt:lpstr>
      <vt:lpstr>黑体</vt:lpstr>
      <vt:lpstr>Arial</vt:lpstr>
      <vt:lpstr>Calibri</vt:lpstr>
      <vt:lpstr>Lucida Sans Unicode</vt:lpstr>
      <vt:lpstr>Wingdings</vt:lpstr>
      <vt:lpstr>VMware_white_4x3</vt:lpstr>
      <vt:lpstr>Solida:  A Blockchain Protocol Based on Reconfigurable Byzantine Consensus</vt:lpstr>
      <vt:lpstr>Bitcoin</vt:lpstr>
      <vt:lpstr>Bitcoin Mining</vt:lpstr>
      <vt:lpstr>Permissionless Consensus</vt:lpstr>
      <vt:lpstr>Permissionless Consensus</vt:lpstr>
      <vt:lpstr>Bitcoin Consensus is Slow</vt:lpstr>
      <vt:lpstr>PBFT for Blockchains?</vt:lpstr>
      <vt:lpstr>Reconfiguration</vt:lpstr>
      <vt:lpstr>Reconfigure PBFT</vt:lpstr>
      <vt:lpstr>Reconfigure PBFT - Contention</vt:lpstr>
      <vt:lpstr>Reconfigure PBFT - Contention</vt:lpstr>
      <vt:lpstr>Reconfigure PBFT - Contention</vt:lpstr>
      <vt:lpstr>Problem with PoW Ranks</vt:lpstr>
      <vt:lpstr>A Fix with Epochs</vt:lpstr>
      <vt:lpstr>A Fix with Epochs</vt:lpstr>
      <vt:lpstr>Proof Sketch</vt:lpstr>
      <vt:lpstr>PowerPoint Presentation</vt:lpstr>
      <vt:lpstr>PowerPoint Presentation</vt:lpstr>
      <vt:lpstr>Solidus  Solida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2014-03-25T22:52:16Z</dcterms:created>
  <dcterms:modified xsi:type="dcterms:W3CDTF">2017-12-21T01:54:02Z</dcterms:modified>
</cp:coreProperties>
</file>